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5.svg" ContentType="image/svg+xml"/>
  <Override PartName="/ppt/media/image37.svg" ContentType="image/svg+xml"/>
  <Override PartName="/ppt/media/image41.svg" ContentType="image/svg+xml"/>
  <Override PartName="/ppt/media/image43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48" r:id="rId1"/>
    <p:sldMasterId id="2147483660" r:id="rId3"/>
    <p:sldMasterId id="2147483663" r:id="rId4"/>
    <p:sldMasterId id="2147483666" r:id="rId5"/>
  </p:sldMasterIdLst>
  <p:notesMasterIdLst>
    <p:notesMasterId r:id="rId7"/>
  </p:notesMasterIdLst>
  <p:sldIdLst>
    <p:sldId id="256" r:id="rId6"/>
    <p:sldId id="258" r:id="rId8"/>
    <p:sldId id="267" r:id="rId9"/>
    <p:sldId id="261" r:id="rId10"/>
    <p:sldId id="260" r:id="rId11"/>
    <p:sldId id="259" r:id="rId12"/>
    <p:sldId id="262" r:id="rId13"/>
    <p:sldId id="268" r:id="rId14"/>
    <p:sldId id="263" r:id="rId15"/>
    <p:sldId id="264" r:id="rId16"/>
    <p:sldId id="265" r:id="rId17"/>
  </p:sldIdLst>
  <p:sldSz cx="12192000" cy="6858000"/>
  <p:notesSz cx="6858000" cy="9144000"/>
  <p:embeddedFontLst>
    <p:embeddedFont>
      <p:font typeface="PingFang SC Regular" panose="020B0400000000000000" charset="-122"/>
      <p:regular r:id="rId21"/>
    </p:embeddedFont>
    <p:embeddedFont>
      <p:font typeface="PingFang SC" panose="020B0400000000000000" charset="-122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60" userDrawn="1">
          <p15:clr>
            <a:srgbClr val="747775"/>
          </p15:clr>
        </p15:guide>
        <p15:guide id="2" pos="2853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60"/>
        <p:guide pos="2853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欢迎各位合作伙伴！今天，我们将向您介绍一个全新的商业机遇——GEOForce代理合作方案。随着AI搜索时代的到来，我们正站在一个巨大的市场风口。这份方案将为您揭示如何通过代理GEOForce，与我们携手共赢，共同开拓这片蓝海市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GEOForce究竟是什么？它不是一个复杂的技术工具，而是一个专为中小企业设计的SaaS平台。它能帮助您的客户，即使没有专业的技术团队，也能轻松地进行GEO优化。通过我们的意图问题库和智能生成功能，他们可以快速提升在AI搜索中的表现，获得更多商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GEOForce究竟是什么？它不是一个复杂的技术工具，而是一个专为中小企业设计的SaaS平台。它能帮助您的客户，即使没有专业的技术团队，也能轻松地进行GEO优化。通过我们的意图问题库和智能生成功能，他们可以快速提升在AI搜索中的表现，获得更多商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我们的客户是谁？主要有三类：第一类是广大的中小企业，他们渴望线上获客但资源有限；第二类是本地生活服务商家，他们希望吸引更多到店顾客；第三类是各类专业服务机构，他们希望在AI问答中树立专业形象。这些都是您可以重点开发的客户群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选择与GEOForce合作，您将获得的不仅仅是一款产品。我们提供极具竞争力的利润空间、强大的产品力、全面的支持体系，以及一个广阔的市场前景。我们希望与您建立的是一种长期、共赢的合作伙伴关系。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为您准备的极具竞争力的代理政策。我们采用充值算力的模式，您的客户充值越多，您获得的折扣就越大。最低5万元即可成为我们的代理商，享受7折优惠。而最高20万的充值档位，更是能拿到5折的超低折扣，为您提供巨大的利润空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找到了目标客户，接下来就是如何开发他们。我们建议线上线下相结合。线上，您可以通过内容营销、社交媒体和精准广告来吸引客户。线下，举办研讨会、与商会合作以及鼓励客户转介绍，都是非常有效的方式。我们会为您提供全套的市场物料支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为您准备的极具竞争力的代理政策。我们采用充值算力的模式，您的客户充值越多，您获得的折扣就越大。最低5万元即可成为我们的代理商，享受7折优惠。而最高20万的充值档位，更是能拿到5折的超低折扣，为您提供巨大的利润空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我们深知，代理商的成功就是我们的成功。因此，我们提供全方位的支持。从销售培训到技术支持，再到市场推广，我们都会为您保驾护航。您只需要专注于开拓市场，其他的事情交给我们。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让我们来看一个真实的案例。上海一家连锁咖啡馆，通过使用GEOForce，成功在AI搜索中获得了推荐，客流量和线上订单都得到了显著提升。而作为代理商，您将从这样的客户合作中获得丰厚的利润回报。这就是GEOForce能为您和您的客户带来的价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机遇就在眼前，时不我待。我们诚挚地邀请您加入GEOForce大家庭，成为我们的合作伙伴，共同开创AI搜索的新纪元。请立即联系我们，了解更多合作细节。感谢大家！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lide8_img14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12730" y="411480"/>
            <a:ext cx="1474470" cy="3371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lide8_img14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12730" y="411480"/>
            <a:ext cx="1474470" cy="3371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lide8_img14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12730" y="411480"/>
            <a:ext cx="1474470" cy="33718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6.sv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0.svg"/><Relationship Id="rId4" Type="http://schemas.openxmlformats.org/officeDocument/2006/relationships/image" Target="../media/image18.png"/><Relationship Id="rId3" Type="http://schemas.openxmlformats.org/officeDocument/2006/relationships/image" Target="../media/image12.svg"/><Relationship Id="rId2" Type="http://schemas.openxmlformats.org/officeDocument/2006/relationships/image" Target="../media/image17.pn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svg"/><Relationship Id="rId7" Type="http://schemas.openxmlformats.org/officeDocument/2006/relationships/image" Target="../media/image24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6" Type="http://schemas.openxmlformats.org/officeDocument/2006/relationships/notesSlide" Target="../notesSlides/notesSlide7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31.svg"/><Relationship Id="rId13" Type="http://schemas.openxmlformats.org/officeDocument/2006/relationships/image" Target="../media/image30.png"/><Relationship Id="rId12" Type="http://schemas.openxmlformats.org/officeDocument/2006/relationships/image" Target="../media/image29.svg"/><Relationship Id="rId11" Type="http://schemas.openxmlformats.org/officeDocument/2006/relationships/image" Target="../media/image28.png"/><Relationship Id="rId10" Type="http://schemas.openxmlformats.org/officeDocument/2006/relationships/image" Target="../media/image27.sv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6.svg"/><Relationship Id="rId6" Type="http://schemas.openxmlformats.org/officeDocument/2006/relationships/image" Target="../media/image38.png"/><Relationship Id="rId5" Type="http://schemas.openxmlformats.org/officeDocument/2006/relationships/image" Target="../media/image37.svg"/><Relationship Id="rId4" Type="http://schemas.openxmlformats.org/officeDocument/2006/relationships/image" Target="../media/image36.png"/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3.svg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3" Type="http://schemas.openxmlformats.org/officeDocument/2006/relationships/image" Target="../media/image23.svg"/><Relationship Id="rId2" Type="http://schemas.openxmlformats.org/officeDocument/2006/relationships/image" Target="../media/image39.png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1.jpeg"/><Relationship Id="rId7" Type="http://schemas.openxmlformats.org/officeDocument/2006/relationships/image" Target="../media/image50.svg"/><Relationship Id="rId6" Type="http://schemas.openxmlformats.org/officeDocument/2006/relationships/image" Target="../media/image49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4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540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GEOForce 代理合作方案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41275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携手共赢 AI 搜索新时代</a:t>
            </a:r>
            <a:endParaRPr lang="en-US" sz="2800" b="0" i="0" u="none" strike="noStrike">
              <a:solidFill>
                <a:srgbClr val="FFFFFF">
                  <a:alpha val="85098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558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2000" b="1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钛镁时代</a:t>
            </a:r>
            <a:r>
              <a:rPr lang="en-US" altLang="zh-CN" sz="2000" b="1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（</a:t>
            </a:r>
            <a:r>
              <a:rPr lang="zh-CN" altLang="en-US" sz="2000" b="1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上海</a:t>
            </a:r>
            <a:r>
              <a:rPr lang="en-US" altLang="zh-CN" sz="2000" b="1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r>
              <a:rPr lang="zh-CN" altLang="en-US" sz="2000" b="1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人工智能有限公司</a:t>
            </a:r>
            <a:endParaRPr lang="zh-CN" altLang="en-US" sz="2000" b="1" i="0" u="none" strike="noStrike">
              <a:solidFill>
                <a:srgbClr val="FFFFFF">
                  <a:alpha val="6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8161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i="0" u="none" strike="noStrike">
                <a:solidFill>
                  <a:srgbClr val="2C3E5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产品介绍：GEOForce 是什么？</a:t>
            </a:r>
            <a:endParaRPr lang="en-US" sz="3200" i="0" u="none" strike="noStrike">
              <a:solidFill>
                <a:srgbClr val="2C3E5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Noto Sans SC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70000"/>
              </a:lnSpc>
            </a:pPr>
            <a:r>
              <a:rPr lang="en-US" sz="2000" i="0" u="none" strike="noStrike">
                <a:solidFill>
                  <a:schemeClr val="tx1">
                    <a:alpha val="85098"/>
                  </a:scheme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GEOForce 是一款专为中小企业打造的轻量化、自助式GEO</a:t>
            </a:r>
            <a:r>
              <a:rPr lang="zh-CN" altLang="en-US" sz="2000" i="0" u="none" strike="noStrike">
                <a:solidFill>
                  <a:schemeClr val="tx1">
                    <a:alpha val="85098"/>
                  </a:scheme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智能体</a:t>
            </a:r>
            <a:r>
              <a:rPr lang="en-US" sz="2000" i="0" u="none" strike="noStrike">
                <a:solidFill>
                  <a:schemeClr val="tx1">
                    <a:alpha val="85098"/>
                  </a:scheme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Noto Sans SC"/>
              </a:rPr>
              <a:t>平台，</a:t>
            </a:r>
            <a:r>
              <a:rPr lang="en-US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 </a:t>
            </a:r>
            <a:r>
              <a:rPr lang="zh-CN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是一套一站式</a:t>
            </a:r>
            <a:r>
              <a:rPr lang="en-US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 AI </a:t>
            </a:r>
            <a:r>
              <a:rPr lang="zh-CN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搜索优化智能体，由</a:t>
            </a:r>
            <a:r>
              <a:rPr lang="en-US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 5 </a:t>
            </a:r>
            <a:r>
              <a:rPr lang="zh-CN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大</a:t>
            </a:r>
            <a:r>
              <a:rPr lang="en-US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 AI </a:t>
            </a:r>
            <a:r>
              <a:rPr lang="zh-CN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智能体自动完成</a:t>
            </a:r>
            <a:r>
              <a:rPr lang="en-US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"</a:t>
            </a:r>
            <a:r>
              <a:rPr lang="zh-CN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找问题→写内容→发媒体→看效果</a:t>
            </a:r>
            <a:r>
              <a:rPr lang="en-US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"</a:t>
            </a:r>
            <a:r>
              <a:rPr lang="zh-CN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的完整闭环，帮助品牌在</a:t>
            </a:r>
            <a:r>
              <a:rPr lang="en-US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 6 </a:t>
            </a:r>
            <a:r>
              <a:rPr lang="zh-CN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大主流</a:t>
            </a:r>
            <a:r>
              <a:rPr lang="en-US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 AI </a:t>
            </a:r>
            <a:r>
              <a:rPr lang="zh-CN" sz="200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平台的回答中实现高曝光、准信息、好口碑。</a:t>
            </a:r>
            <a:endParaRPr lang="zh-CN" sz="2000">
              <a:solidFill>
                <a:schemeClr val="tx1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+mn-ea"/>
            </a:endParaRPr>
          </a:p>
        </p:txBody>
      </p:sp>
      <p:sp>
        <p:nvSpPr>
          <p:cNvPr id="509" name="圆角矩形 508"/>
          <p:cNvSpPr/>
          <p:nvPr/>
        </p:nvSpPr>
        <p:spPr>
          <a:xfrm>
            <a:off x="2421255" y="3454400"/>
            <a:ext cx="933450" cy="331470"/>
          </a:xfrm>
          <a:prstGeom prst="roundRect">
            <a:avLst>
              <a:gd name="adj" fmla="val 13793"/>
            </a:avLst>
          </a:prstGeom>
          <a:solidFill>
            <a:srgbClr val="1E96CE"/>
          </a:solidFill>
        </p:spPr>
        <p:txBody>
          <a:bodyPr/>
          <a:p>
            <a:endParaRPr sz="2400"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510" name="文本框 509" descr="{&quot;isTemplate&quot;:true,&quot;type&quot;:&quot;text&quot;}"/>
          <p:cNvSpPr txBox="1"/>
          <p:nvPr/>
        </p:nvSpPr>
        <p:spPr>
          <a:xfrm>
            <a:off x="2586990" y="3493770"/>
            <a:ext cx="4000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一站式</a:t>
            </a:r>
            <a:endParaRPr lang="zh-CN" sz="1800" b="1">
              <a:solidFill>
                <a:srgbClr val="FFFFFF"/>
              </a:solidFill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511" name="文本框 510" descr="{&quot;isTemplate&quot;:true,&quot;type&quot;:&quot;text&quot;}"/>
          <p:cNvSpPr txBox="1"/>
          <p:nvPr/>
        </p:nvSpPr>
        <p:spPr>
          <a:xfrm>
            <a:off x="3589020" y="3441065"/>
            <a:ext cx="4914900" cy="295275"/>
          </a:xfrm>
          <a:prstGeom prst="rect">
            <a:avLst/>
          </a:prstGeom>
        </p:spPr>
        <p:txBody>
          <a:bodyPr wrap="none" lIns="0" tIns="14288" rIns="0" bIns="0" anchor="ctr" anchorCtr="0"/>
          <a:p>
            <a:pPr>
              <a:lnSpc>
                <a:spcPct val="160000"/>
              </a:lnSpc>
            </a:pPr>
            <a:r>
              <a:rPr lang="zh-CN" sz="2000">
                <a:solidFill>
                  <a:srgbClr val="111111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从策略到执行到监测，一个产品包全包，品牌不用自己拼团队</a:t>
            </a:r>
            <a:endParaRPr lang="zh-CN" sz="2000">
              <a:solidFill>
                <a:srgbClr val="111111"/>
              </a:solidFill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512" name="圆角矩形 511"/>
          <p:cNvSpPr/>
          <p:nvPr/>
        </p:nvSpPr>
        <p:spPr>
          <a:xfrm>
            <a:off x="2421255" y="3883025"/>
            <a:ext cx="933450" cy="331470"/>
          </a:xfrm>
          <a:prstGeom prst="roundRect">
            <a:avLst>
              <a:gd name="adj" fmla="val 13793"/>
            </a:avLst>
          </a:prstGeom>
          <a:solidFill>
            <a:srgbClr val="1E96CE"/>
          </a:solidFill>
        </p:spPr>
        <p:txBody>
          <a:bodyPr/>
          <a:p>
            <a:endParaRPr sz="2400"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513" name="文本框 512" descr="{&quot;isTemplate&quot;:true,&quot;type&quot;:&quot;text&quot;}"/>
          <p:cNvSpPr txBox="1"/>
          <p:nvPr/>
        </p:nvSpPr>
        <p:spPr>
          <a:xfrm>
            <a:off x="2586990" y="3922395"/>
            <a:ext cx="4000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智能化</a:t>
            </a:r>
            <a:endParaRPr lang="zh-CN" sz="1800" b="1">
              <a:solidFill>
                <a:srgbClr val="FFFFFF"/>
              </a:solidFill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514" name="文本框 513" descr="{&quot;isTemplate&quot;:true,&quot;type&quot;:&quot;text&quot;}"/>
          <p:cNvSpPr txBox="1"/>
          <p:nvPr/>
        </p:nvSpPr>
        <p:spPr>
          <a:xfrm>
            <a:off x="3575050" y="3855720"/>
            <a:ext cx="4914900" cy="295275"/>
          </a:xfrm>
          <a:prstGeom prst="rect">
            <a:avLst/>
          </a:prstGeom>
        </p:spPr>
        <p:txBody>
          <a:bodyPr wrap="none" lIns="0" tIns="14288" rIns="0" bIns="0" anchor="ctr" anchorCtr="0"/>
          <a:p>
            <a:pPr>
              <a:lnSpc>
                <a:spcPct val="160000"/>
              </a:lnSpc>
            </a:pPr>
            <a:r>
              <a:rPr lang="en-US" sz="2000">
                <a:solidFill>
                  <a:srgbClr val="11111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AI </a:t>
            </a:r>
            <a:r>
              <a:rPr lang="zh-CN" sz="2000">
                <a:solidFill>
                  <a:srgbClr val="11111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智能体自动执行，效率是人工的</a:t>
            </a:r>
            <a:r>
              <a:rPr lang="en-US" sz="2000">
                <a:solidFill>
                  <a:srgbClr val="11111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10 </a:t>
            </a:r>
            <a:r>
              <a:rPr lang="zh-CN" sz="2000">
                <a:solidFill>
                  <a:srgbClr val="11111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倍，</a:t>
            </a:r>
            <a:r>
              <a:rPr lang="en-US" sz="2000">
                <a:solidFill>
                  <a:srgbClr val="11111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7×24 </a:t>
            </a:r>
            <a:r>
              <a:rPr lang="zh-CN" sz="2000">
                <a:solidFill>
                  <a:srgbClr val="11111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小时不间断优化</a:t>
            </a:r>
            <a:endParaRPr lang="zh-CN" sz="2000">
              <a:solidFill>
                <a:srgbClr val="111111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sp>
        <p:nvSpPr>
          <p:cNvPr id="515" name="圆角矩形 514"/>
          <p:cNvSpPr/>
          <p:nvPr/>
        </p:nvSpPr>
        <p:spPr>
          <a:xfrm>
            <a:off x="2402840" y="4329430"/>
            <a:ext cx="932815" cy="294640"/>
          </a:xfrm>
          <a:prstGeom prst="roundRect">
            <a:avLst>
              <a:gd name="adj" fmla="val 13793"/>
            </a:avLst>
          </a:prstGeom>
          <a:solidFill>
            <a:srgbClr val="1E96CE"/>
          </a:solidFill>
        </p:spPr>
        <p:txBody>
          <a:bodyPr/>
          <a:p>
            <a:endParaRPr sz="2400"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516" name="文本框 515" descr="{&quot;isTemplate&quot;:true,&quot;type&quot;:&quot;text&quot;}"/>
          <p:cNvSpPr txBox="1"/>
          <p:nvPr/>
        </p:nvSpPr>
        <p:spPr>
          <a:xfrm>
            <a:off x="2586990" y="4351020"/>
            <a:ext cx="4000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可量化</a:t>
            </a:r>
            <a:endParaRPr lang="zh-CN" sz="1800" b="1">
              <a:solidFill>
                <a:srgbClr val="FFFFFF"/>
              </a:solidFill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517" name="文本框 516" descr="{&quot;isTemplate&quot;:true,&quot;type&quot;:&quot;text&quot;}"/>
          <p:cNvSpPr txBox="1"/>
          <p:nvPr/>
        </p:nvSpPr>
        <p:spPr>
          <a:xfrm>
            <a:off x="3561080" y="4284345"/>
            <a:ext cx="4914900" cy="295275"/>
          </a:xfrm>
          <a:prstGeom prst="rect">
            <a:avLst/>
          </a:prstGeom>
        </p:spPr>
        <p:txBody>
          <a:bodyPr wrap="none" lIns="0" tIns="14288" rIns="0" bIns="0" anchor="ctr" anchorCtr="0"/>
          <a:p>
            <a:pPr>
              <a:lnSpc>
                <a:spcPct val="160000"/>
              </a:lnSpc>
            </a:pPr>
            <a:r>
              <a:rPr lang="zh-CN" sz="2000">
                <a:solidFill>
                  <a:srgbClr val="111111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效果看得见，每个优化动作都有数据追踪，投入产出清晰可算</a:t>
            </a:r>
            <a:endParaRPr lang="zh-CN" sz="2000">
              <a:solidFill>
                <a:srgbClr val="111111"/>
              </a:solidFill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8161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GEOForce </a:t>
            </a:r>
            <a:r>
              <a:rPr lang="zh-CN" sz="320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产品包</a:t>
            </a:r>
            <a:r>
              <a:rPr lang="zh-CN" sz="3200">
                <a:solidFill>
                  <a:srgbClr val="1E96C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包含什么</a:t>
            </a:r>
            <a:endParaRPr lang="zh-CN" sz="3200">
              <a:solidFill>
                <a:srgbClr val="1E96C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328420"/>
            <a:ext cx="10668000" cy="4991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0000"/>
              </a:lnSpc>
            </a:pPr>
            <a:r>
              <a:rPr lang="zh-CN" sz="2000" b="1">
                <a:solidFill>
                  <a:srgbClr val="5B6B7A"/>
                </a:solidFill>
                <a:latin typeface="Source Han Sans CN"/>
                <a:ea typeface="Source Han Sans CN"/>
                <a:sym typeface="+mn-ea"/>
              </a:rPr>
              <a:t>六大服务模块，一站式解决</a:t>
            </a:r>
            <a:r>
              <a:rPr lang="en-US" sz="2000" b="1">
                <a:solidFill>
                  <a:srgbClr val="5B6B7A"/>
                </a:solidFill>
                <a:latin typeface="Source Han Sans CN"/>
                <a:ea typeface="Source Han Sans CN"/>
                <a:sym typeface="+mn-ea"/>
              </a:rPr>
              <a:t> GEO </a:t>
            </a:r>
            <a:r>
              <a:rPr lang="zh-CN" sz="2000" b="1">
                <a:solidFill>
                  <a:srgbClr val="5B6B7A"/>
                </a:solidFill>
                <a:latin typeface="Source Han Sans CN"/>
                <a:ea typeface="Source Han Sans CN"/>
                <a:sym typeface="+mn-ea"/>
              </a:rPr>
              <a:t>优化全流程</a:t>
            </a:r>
            <a:endParaRPr lang="zh-CN" sz="2000" b="1">
              <a:solidFill>
                <a:schemeClr val="tx1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+mn-ea"/>
            </a:endParaRPr>
          </a:p>
        </p:txBody>
      </p:sp>
      <p:sp>
        <p:nvSpPr>
          <p:cNvPr id="638" name="圆角矩形 637"/>
          <p:cNvSpPr/>
          <p:nvPr/>
        </p:nvSpPr>
        <p:spPr>
          <a:xfrm>
            <a:off x="609600" y="2098040"/>
            <a:ext cx="3571875" cy="1504950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p/>
        </p:txBody>
      </p:sp>
      <p:sp>
        <p:nvSpPr>
          <p:cNvPr id="639" name="圆角矩形 638"/>
          <p:cNvSpPr/>
          <p:nvPr/>
        </p:nvSpPr>
        <p:spPr>
          <a:xfrm>
            <a:off x="819150" y="2307590"/>
            <a:ext cx="342900" cy="342900"/>
          </a:xfrm>
          <a:prstGeom prst="roundRect">
            <a:avLst>
              <a:gd name="adj" fmla="val 50000"/>
            </a:avLst>
          </a:prstGeom>
          <a:ln w="25400">
            <a:solidFill>
              <a:srgbClr val="1E96CE"/>
            </a:solidFill>
            <a:prstDash val="solid"/>
          </a:ln>
        </p:spPr>
        <p:txBody>
          <a:bodyPr/>
          <a:p/>
        </p:txBody>
      </p:sp>
      <p:sp>
        <p:nvSpPr>
          <p:cNvPr id="640" name="文本框 639" descr="{&quot;isTemplate&quot;:true,&quot;type&quot;:&quot;text&quot;}"/>
          <p:cNvSpPr txBox="1"/>
          <p:nvPr/>
        </p:nvSpPr>
        <p:spPr>
          <a:xfrm>
            <a:off x="914400" y="2383790"/>
            <a:ext cx="152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1E96CE"/>
                </a:solidFill>
                <a:latin typeface="Source Han Sans CN"/>
                <a:ea typeface="Source Han Sans CN"/>
              </a:rPr>
              <a:t>①</a:t>
            </a:r>
            <a:endParaRPr sz="1200" b="1">
              <a:solidFill>
                <a:srgbClr val="1E96CE"/>
              </a:solidFill>
              <a:latin typeface="Source Han Sans CN"/>
              <a:ea typeface="Source Han Sans CN"/>
            </a:endParaRPr>
          </a:p>
        </p:txBody>
      </p:sp>
      <p:sp>
        <p:nvSpPr>
          <p:cNvPr id="641" name="文本框 640" descr="{&quot;isTemplate&quot;:true,&quot;type&quot;:&quot;text&quot;}"/>
          <p:cNvSpPr txBox="1"/>
          <p:nvPr/>
        </p:nvSpPr>
        <p:spPr>
          <a:xfrm>
            <a:off x="1276350" y="2374265"/>
            <a:ext cx="1200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00" b="1">
                <a:solidFill>
                  <a:srgbClr val="0B4E74"/>
                </a:solidFill>
                <a:latin typeface="Source Han Sans CN"/>
                <a:ea typeface="Source Han Sans CN"/>
              </a:rPr>
              <a:t>品牌数字资产库</a:t>
            </a:r>
            <a:endParaRPr lang="zh-CN" sz="1400" b="1">
              <a:solidFill>
                <a:srgbClr val="0B4E74"/>
              </a:solidFill>
              <a:latin typeface="Source Han Sans CN"/>
              <a:ea typeface="Source Han Sans CN"/>
            </a:endParaRPr>
          </a:p>
        </p:txBody>
      </p:sp>
      <p:sp>
        <p:nvSpPr>
          <p:cNvPr id="642" name="文本框 641" descr="{&quot;isTemplate&quot;:true,&quot;type&quot;:&quot;text&quot;}"/>
          <p:cNvSpPr txBox="1"/>
          <p:nvPr/>
        </p:nvSpPr>
        <p:spPr>
          <a:xfrm>
            <a:off x="819150" y="2764790"/>
            <a:ext cx="31527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111111"/>
                </a:solidFill>
                <a:latin typeface="Source Han Sans CN"/>
                <a:ea typeface="Source Han Sans CN"/>
              </a:rPr>
              <a:t>品牌信息统一管理，</a:t>
            </a:r>
            <a:r>
              <a:rPr lang="en-US" sz="1200">
                <a:solidFill>
                  <a:srgbClr val="111111"/>
                </a:solidFill>
                <a:latin typeface="Source Han Sans CN"/>
                <a:ea typeface="Source Han Sans CN"/>
              </a:rPr>
              <a:t>AI </a:t>
            </a:r>
            <a:r>
              <a:rPr lang="zh-CN" sz="1200">
                <a:solidFill>
                  <a:srgbClr val="111111"/>
                </a:solidFill>
                <a:latin typeface="Source Han Sans CN"/>
                <a:ea typeface="Source Han Sans CN"/>
              </a:rPr>
              <a:t>基于真实信息回答</a:t>
            </a:r>
            <a:endParaRPr lang="zh-CN" sz="1200">
              <a:solidFill>
                <a:srgbClr val="111111"/>
              </a:solidFill>
              <a:latin typeface="Source Han Sans CN"/>
              <a:ea typeface="Source Han Sans CN"/>
            </a:endParaRPr>
          </a:p>
        </p:txBody>
      </p:sp>
      <p:sp>
        <p:nvSpPr>
          <p:cNvPr id="643" name="圆角矩形 642"/>
          <p:cNvSpPr/>
          <p:nvPr/>
        </p:nvSpPr>
        <p:spPr>
          <a:xfrm>
            <a:off x="819150" y="3136265"/>
            <a:ext cx="3152775" cy="257175"/>
          </a:xfrm>
          <a:prstGeom prst="roundRect">
            <a:avLst>
              <a:gd name="adj" fmla="val 14815"/>
            </a:avLst>
          </a:prstGeom>
          <a:solidFill>
            <a:srgbClr val="E9F5FB"/>
          </a:solidFill>
        </p:spPr>
        <p:txBody>
          <a:bodyPr/>
          <a:p/>
        </p:txBody>
      </p:sp>
      <p:sp>
        <p:nvSpPr>
          <p:cNvPr id="644" name="文本框 643" descr="{&quot;isTemplate&quot;:true,&quot;type&quot;:&quot;text&quot;}"/>
          <p:cNvSpPr txBox="1"/>
          <p:nvPr/>
        </p:nvSpPr>
        <p:spPr>
          <a:xfrm>
            <a:off x="914400" y="3193415"/>
            <a:ext cx="29622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00" b="1">
                <a:solidFill>
                  <a:srgbClr val="1E96CE"/>
                </a:solidFill>
                <a:latin typeface="Source Han Sans CN"/>
                <a:ea typeface="Source Han Sans CN"/>
              </a:rPr>
              <a:t>解决</a:t>
            </a:r>
            <a:r>
              <a:rPr lang="en-US" sz="1000" b="1">
                <a:solidFill>
                  <a:srgbClr val="1E96CE"/>
                </a:solidFill>
                <a:latin typeface="Source Han Sans CN"/>
                <a:ea typeface="Source Han Sans CN"/>
              </a:rPr>
              <a:t>"AI </a:t>
            </a:r>
            <a:r>
              <a:rPr lang="zh-CN" sz="1000" b="1">
                <a:solidFill>
                  <a:srgbClr val="1E96CE"/>
                </a:solidFill>
                <a:latin typeface="Source Han Sans CN"/>
                <a:ea typeface="Source Han Sans CN"/>
              </a:rPr>
              <a:t>说的不对</a:t>
            </a:r>
            <a:r>
              <a:rPr lang="en-US" sz="1000" b="1">
                <a:solidFill>
                  <a:srgbClr val="1E96CE"/>
                </a:solidFill>
                <a:latin typeface="Source Han Sans CN"/>
                <a:ea typeface="Source Han Sans CN"/>
              </a:rPr>
              <a:t>"</a:t>
            </a:r>
            <a:r>
              <a:rPr lang="zh-CN" sz="1000" b="1">
                <a:solidFill>
                  <a:srgbClr val="1E96CE"/>
                </a:solidFill>
                <a:latin typeface="Source Han Sans CN"/>
                <a:ea typeface="Source Han Sans CN"/>
              </a:rPr>
              <a:t>的问题</a:t>
            </a:r>
            <a:endParaRPr lang="zh-CN" sz="1000" b="1">
              <a:solidFill>
                <a:srgbClr val="1E96CE"/>
              </a:solidFill>
              <a:latin typeface="Source Han Sans CN"/>
              <a:ea typeface="Source Han Sans CN"/>
            </a:endParaRPr>
          </a:p>
        </p:txBody>
      </p:sp>
      <p:sp>
        <p:nvSpPr>
          <p:cNvPr id="645" name="圆角矩形 644"/>
          <p:cNvSpPr/>
          <p:nvPr/>
        </p:nvSpPr>
        <p:spPr>
          <a:xfrm>
            <a:off x="4314825" y="2098040"/>
            <a:ext cx="3562350" cy="1504950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p>
            <a:endParaRPr sz="2000"/>
          </a:p>
        </p:txBody>
      </p:sp>
      <p:sp>
        <p:nvSpPr>
          <p:cNvPr id="646" name="圆角矩形 645"/>
          <p:cNvSpPr/>
          <p:nvPr/>
        </p:nvSpPr>
        <p:spPr>
          <a:xfrm>
            <a:off x="4524375" y="2307590"/>
            <a:ext cx="342900" cy="342900"/>
          </a:xfrm>
          <a:prstGeom prst="roundRect">
            <a:avLst>
              <a:gd name="adj" fmla="val 50000"/>
            </a:avLst>
          </a:prstGeom>
          <a:ln w="25400">
            <a:solidFill>
              <a:srgbClr val="1E96CE"/>
            </a:solidFill>
            <a:prstDash val="solid"/>
          </a:ln>
        </p:spPr>
        <p:txBody>
          <a:bodyPr/>
          <a:p/>
        </p:txBody>
      </p:sp>
      <p:sp>
        <p:nvSpPr>
          <p:cNvPr id="647" name="文本框 646" descr="{&quot;isTemplate&quot;:true,&quot;type&quot;:&quot;text&quot;}"/>
          <p:cNvSpPr txBox="1"/>
          <p:nvPr/>
        </p:nvSpPr>
        <p:spPr>
          <a:xfrm>
            <a:off x="4619625" y="2383790"/>
            <a:ext cx="152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1E96CE"/>
                </a:solidFill>
                <a:latin typeface="Source Han Sans CN"/>
                <a:ea typeface="Source Han Sans CN"/>
              </a:rPr>
              <a:t>②</a:t>
            </a:r>
            <a:endParaRPr sz="1200" b="1">
              <a:solidFill>
                <a:srgbClr val="1E96CE"/>
              </a:solidFill>
              <a:latin typeface="Source Han Sans CN"/>
              <a:ea typeface="Source Han Sans CN"/>
            </a:endParaRPr>
          </a:p>
        </p:txBody>
      </p:sp>
      <p:sp>
        <p:nvSpPr>
          <p:cNvPr id="648" name="文本框 647" descr="{&quot;isTemplate&quot;:true,&quot;type&quot;:&quot;text&quot;}"/>
          <p:cNvSpPr txBox="1"/>
          <p:nvPr/>
        </p:nvSpPr>
        <p:spPr>
          <a:xfrm>
            <a:off x="4981575" y="2374265"/>
            <a:ext cx="1200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00" b="1">
                <a:solidFill>
                  <a:srgbClr val="0B4E74"/>
                </a:solidFill>
                <a:latin typeface="Source Han Sans CN"/>
                <a:ea typeface="Source Han Sans CN"/>
              </a:rPr>
              <a:t>高价值问题挖掘</a:t>
            </a:r>
            <a:endParaRPr lang="zh-CN" sz="1400" b="1">
              <a:solidFill>
                <a:srgbClr val="0B4E74"/>
              </a:solidFill>
              <a:latin typeface="Source Han Sans CN"/>
              <a:ea typeface="Source Han Sans CN"/>
            </a:endParaRPr>
          </a:p>
        </p:txBody>
      </p:sp>
      <p:sp>
        <p:nvSpPr>
          <p:cNvPr id="649" name="文本框 648" descr="{&quot;isTemplate&quot;:true,&quot;type&quot;:&quot;text&quot;}"/>
          <p:cNvSpPr txBox="1"/>
          <p:nvPr/>
        </p:nvSpPr>
        <p:spPr>
          <a:xfrm>
            <a:off x="4524375" y="2764790"/>
            <a:ext cx="31432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111111"/>
                </a:solidFill>
                <a:latin typeface="Source Han Sans CN"/>
                <a:ea typeface="Source Han Sans CN"/>
              </a:rPr>
              <a:t>找到消费者最关心、最可能下单的问题</a:t>
            </a:r>
            <a:endParaRPr lang="zh-CN" sz="1200">
              <a:solidFill>
                <a:srgbClr val="111111"/>
              </a:solidFill>
              <a:latin typeface="Source Han Sans CN"/>
              <a:ea typeface="Source Han Sans CN"/>
            </a:endParaRPr>
          </a:p>
        </p:txBody>
      </p:sp>
      <p:sp>
        <p:nvSpPr>
          <p:cNvPr id="650" name="圆角矩形 649"/>
          <p:cNvSpPr/>
          <p:nvPr/>
        </p:nvSpPr>
        <p:spPr>
          <a:xfrm>
            <a:off x="4524375" y="3136265"/>
            <a:ext cx="3143250" cy="257175"/>
          </a:xfrm>
          <a:prstGeom prst="roundRect">
            <a:avLst>
              <a:gd name="adj" fmla="val 14815"/>
            </a:avLst>
          </a:prstGeom>
          <a:solidFill>
            <a:srgbClr val="E9F5FB"/>
          </a:solidFill>
        </p:spPr>
        <p:txBody>
          <a:bodyPr/>
          <a:p>
            <a:endParaRPr sz="2000"/>
          </a:p>
        </p:txBody>
      </p:sp>
      <p:sp>
        <p:nvSpPr>
          <p:cNvPr id="651" name="文本框 650" descr="{&quot;isTemplate&quot;:true,&quot;type&quot;:&quot;text&quot;}"/>
          <p:cNvSpPr txBox="1"/>
          <p:nvPr/>
        </p:nvSpPr>
        <p:spPr>
          <a:xfrm>
            <a:off x="4619625" y="3193415"/>
            <a:ext cx="29527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00" b="1">
                <a:solidFill>
                  <a:srgbClr val="1E96CE"/>
                </a:solidFill>
                <a:latin typeface="Source Han Sans CN"/>
                <a:ea typeface="Source Han Sans CN"/>
              </a:rPr>
              <a:t>解决</a:t>
            </a:r>
            <a:r>
              <a:rPr lang="en-US" sz="1000" b="1">
                <a:solidFill>
                  <a:srgbClr val="1E96CE"/>
                </a:solidFill>
                <a:latin typeface="Source Han Sans CN"/>
                <a:ea typeface="Source Han Sans CN"/>
              </a:rPr>
              <a:t>"</a:t>
            </a:r>
            <a:r>
              <a:rPr lang="zh-CN" sz="1000" b="1">
                <a:solidFill>
                  <a:srgbClr val="1E96CE"/>
                </a:solidFill>
                <a:latin typeface="Source Han Sans CN"/>
                <a:ea typeface="Source Han Sans CN"/>
              </a:rPr>
              <a:t>不知道优化什么</a:t>
            </a:r>
            <a:r>
              <a:rPr lang="en-US" sz="1000" b="1">
                <a:solidFill>
                  <a:srgbClr val="1E96CE"/>
                </a:solidFill>
                <a:latin typeface="Source Han Sans CN"/>
                <a:ea typeface="Source Han Sans CN"/>
              </a:rPr>
              <a:t>"</a:t>
            </a:r>
            <a:r>
              <a:rPr lang="zh-CN" sz="1000" b="1">
                <a:solidFill>
                  <a:srgbClr val="1E96CE"/>
                </a:solidFill>
                <a:latin typeface="Source Han Sans CN"/>
                <a:ea typeface="Source Han Sans CN"/>
              </a:rPr>
              <a:t>的问题</a:t>
            </a:r>
            <a:endParaRPr lang="zh-CN" sz="1000" b="1">
              <a:solidFill>
                <a:srgbClr val="1E96CE"/>
              </a:solidFill>
              <a:latin typeface="Source Han Sans CN"/>
              <a:ea typeface="Source Han Sans CN"/>
            </a:endParaRPr>
          </a:p>
        </p:txBody>
      </p:sp>
      <p:sp>
        <p:nvSpPr>
          <p:cNvPr id="652" name="圆角矩形 651"/>
          <p:cNvSpPr/>
          <p:nvPr/>
        </p:nvSpPr>
        <p:spPr>
          <a:xfrm>
            <a:off x="8010525" y="2098040"/>
            <a:ext cx="3571875" cy="1504950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p/>
        </p:txBody>
      </p:sp>
      <p:sp>
        <p:nvSpPr>
          <p:cNvPr id="653" name="圆角矩形 652"/>
          <p:cNvSpPr/>
          <p:nvPr/>
        </p:nvSpPr>
        <p:spPr>
          <a:xfrm>
            <a:off x="8220075" y="2307590"/>
            <a:ext cx="342900" cy="342900"/>
          </a:xfrm>
          <a:prstGeom prst="roundRect">
            <a:avLst>
              <a:gd name="adj" fmla="val 50000"/>
            </a:avLst>
          </a:prstGeom>
          <a:ln w="25400">
            <a:solidFill>
              <a:srgbClr val="1E96CE"/>
            </a:solidFill>
            <a:prstDash val="solid"/>
          </a:ln>
        </p:spPr>
        <p:txBody>
          <a:bodyPr/>
          <a:p/>
        </p:txBody>
      </p:sp>
      <p:sp>
        <p:nvSpPr>
          <p:cNvPr id="654" name="文本框 653" descr="{&quot;isTemplate&quot;:true,&quot;type&quot;:&quot;text&quot;}"/>
          <p:cNvSpPr txBox="1"/>
          <p:nvPr/>
        </p:nvSpPr>
        <p:spPr>
          <a:xfrm>
            <a:off x="8315325" y="2383790"/>
            <a:ext cx="152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1E96CE"/>
                </a:solidFill>
                <a:latin typeface="Source Han Sans CN"/>
                <a:ea typeface="Source Han Sans CN"/>
              </a:rPr>
              <a:t>③</a:t>
            </a:r>
            <a:endParaRPr sz="1200" b="1">
              <a:solidFill>
                <a:srgbClr val="1E96CE"/>
              </a:solidFill>
              <a:latin typeface="Source Han Sans CN"/>
              <a:ea typeface="Source Han Sans CN"/>
            </a:endParaRPr>
          </a:p>
        </p:txBody>
      </p:sp>
      <p:sp>
        <p:nvSpPr>
          <p:cNvPr id="655" name="文本框 654" descr="{&quot;isTemplate&quot;:true,&quot;type&quot;:&quot;text&quot;}"/>
          <p:cNvSpPr txBox="1"/>
          <p:nvPr/>
        </p:nvSpPr>
        <p:spPr>
          <a:xfrm>
            <a:off x="8677275" y="2374265"/>
            <a:ext cx="10287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00" b="1">
                <a:solidFill>
                  <a:srgbClr val="0B4E74"/>
                </a:solidFill>
                <a:latin typeface="Source Han Sans CN"/>
                <a:ea typeface="Source Han Sans CN"/>
              </a:rPr>
              <a:t>智能内容创作</a:t>
            </a:r>
            <a:endParaRPr lang="zh-CN" sz="1400" b="1">
              <a:solidFill>
                <a:srgbClr val="0B4E74"/>
              </a:solidFill>
              <a:latin typeface="Source Han Sans CN"/>
              <a:ea typeface="Source Han Sans CN"/>
            </a:endParaRPr>
          </a:p>
        </p:txBody>
      </p:sp>
      <p:sp>
        <p:nvSpPr>
          <p:cNvPr id="656" name="文本框 655" descr="{&quot;isTemplate&quot;:true,&quot;type&quot;:&quot;text&quot;}"/>
          <p:cNvSpPr txBox="1"/>
          <p:nvPr/>
        </p:nvSpPr>
        <p:spPr>
          <a:xfrm>
            <a:off x="8220075" y="2764790"/>
            <a:ext cx="31527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111111"/>
                </a:solidFill>
                <a:latin typeface="Source Han Sans CN"/>
                <a:ea typeface="Source Han Sans CN"/>
              </a:rPr>
              <a:t>AI </a:t>
            </a:r>
            <a:r>
              <a:rPr lang="zh-CN" sz="1200">
                <a:solidFill>
                  <a:srgbClr val="111111"/>
                </a:solidFill>
                <a:latin typeface="Source Han Sans CN"/>
                <a:ea typeface="Source Han Sans CN"/>
              </a:rPr>
              <a:t>自动生成专业、合规、有说服力的优化内容</a:t>
            </a:r>
            <a:endParaRPr lang="zh-CN" sz="1200">
              <a:solidFill>
                <a:srgbClr val="111111"/>
              </a:solidFill>
              <a:latin typeface="Source Han Sans CN"/>
              <a:ea typeface="Source Han Sans CN"/>
            </a:endParaRPr>
          </a:p>
        </p:txBody>
      </p:sp>
      <p:sp>
        <p:nvSpPr>
          <p:cNvPr id="657" name="圆角矩形 656"/>
          <p:cNvSpPr/>
          <p:nvPr/>
        </p:nvSpPr>
        <p:spPr>
          <a:xfrm>
            <a:off x="8220075" y="3136265"/>
            <a:ext cx="3152775" cy="257175"/>
          </a:xfrm>
          <a:prstGeom prst="roundRect">
            <a:avLst>
              <a:gd name="adj" fmla="val 14815"/>
            </a:avLst>
          </a:prstGeom>
          <a:solidFill>
            <a:srgbClr val="E9F5FB"/>
          </a:solidFill>
        </p:spPr>
        <p:txBody>
          <a:bodyPr/>
          <a:p/>
        </p:txBody>
      </p:sp>
      <p:sp>
        <p:nvSpPr>
          <p:cNvPr id="658" name="文本框 657" descr="{&quot;isTemplate&quot;:true,&quot;type&quot;:&quot;text&quot;}"/>
          <p:cNvSpPr txBox="1"/>
          <p:nvPr/>
        </p:nvSpPr>
        <p:spPr>
          <a:xfrm>
            <a:off x="8315325" y="3193415"/>
            <a:ext cx="29622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00" b="1">
                <a:solidFill>
                  <a:srgbClr val="1E96CE"/>
                </a:solidFill>
                <a:latin typeface="Source Han Sans CN"/>
                <a:ea typeface="Source Han Sans CN"/>
              </a:rPr>
              <a:t>解决</a:t>
            </a:r>
            <a:r>
              <a:rPr lang="en-US" sz="1000" b="1">
                <a:solidFill>
                  <a:srgbClr val="1E96CE"/>
                </a:solidFill>
                <a:latin typeface="Source Han Sans CN"/>
                <a:ea typeface="Source Han Sans CN"/>
              </a:rPr>
              <a:t>"</a:t>
            </a:r>
            <a:r>
              <a:rPr lang="zh-CN" sz="1000" b="1">
                <a:solidFill>
                  <a:srgbClr val="1E96CE"/>
                </a:solidFill>
                <a:latin typeface="Source Han Sans CN"/>
                <a:ea typeface="Source Han Sans CN"/>
              </a:rPr>
              <a:t>不会写、写不好、写得慢</a:t>
            </a:r>
            <a:r>
              <a:rPr lang="en-US" sz="1000" b="1">
                <a:solidFill>
                  <a:srgbClr val="1E96CE"/>
                </a:solidFill>
                <a:latin typeface="Source Han Sans CN"/>
                <a:ea typeface="Source Han Sans CN"/>
              </a:rPr>
              <a:t>"</a:t>
            </a:r>
            <a:endParaRPr lang="en-US" sz="1000" b="1">
              <a:solidFill>
                <a:srgbClr val="1E96CE"/>
              </a:solidFill>
              <a:latin typeface="Source Han Sans CN"/>
              <a:ea typeface="Source Han Sans CN"/>
            </a:endParaRPr>
          </a:p>
        </p:txBody>
      </p:sp>
      <p:sp>
        <p:nvSpPr>
          <p:cNvPr id="659" name="圆角矩形 658"/>
          <p:cNvSpPr/>
          <p:nvPr/>
        </p:nvSpPr>
        <p:spPr>
          <a:xfrm>
            <a:off x="609600" y="3736340"/>
            <a:ext cx="3571875" cy="1504950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p/>
        </p:txBody>
      </p:sp>
      <p:sp>
        <p:nvSpPr>
          <p:cNvPr id="660" name="圆角矩形 659"/>
          <p:cNvSpPr/>
          <p:nvPr/>
        </p:nvSpPr>
        <p:spPr>
          <a:xfrm>
            <a:off x="819150" y="3945890"/>
            <a:ext cx="342900" cy="342900"/>
          </a:xfrm>
          <a:prstGeom prst="roundRect">
            <a:avLst>
              <a:gd name="adj" fmla="val 50000"/>
            </a:avLst>
          </a:prstGeom>
          <a:ln w="25400">
            <a:solidFill>
              <a:srgbClr val="1E96CE"/>
            </a:solidFill>
            <a:prstDash val="solid"/>
          </a:ln>
        </p:spPr>
        <p:txBody>
          <a:bodyPr/>
          <a:p/>
        </p:txBody>
      </p:sp>
      <p:sp>
        <p:nvSpPr>
          <p:cNvPr id="661" name="文本框 660" descr="{&quot;isTemplate&quot;:true,&quot;type&quot;:&quot;text&quot;}"/>
          <p:cNvSpPr txBox="1"/>
          <p:nvPr/>
        </p:nvSpPr>
        <p:spPr>
          <a:xfrm>
            <a:off x="914400" y="4022090"/>
            <a:ext cx="152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1E96CE"/>
                </a:solidFill>
                <a:latin typeface="Source Han Sans CN"/>
                <a:ea typeface="Source Han Sans CN"/>
              </a:rPr>
              <a:t>④</a:t>
            </a:r>
            <a:endParaRPr sz="1200" b="1">
              <a:solidFill>
                <a:srgbClr val="1E96CE"/>
              </a:solidFill>
              <a:latin typeface="Source Han Sans CN"/>
              <a:ea typeface="Source Han Sans CN"/>
            </a:endParaRPr>
          </a:p>
        </p:txBody>
      </p:sp>
      <p:sp>
        <p:nvSpPr>
          <p:cNvPr id="662" name="文本框 661" descr="{&quot;isTemplate&quot;:true,&quot;type&quot;:&quot;text&quot;}"/>
          <p:cNvSpPr txBox="1"/>
          <p:nvPr/>
        </p:nvSpPr>
        <p:spPr>
          <a:xfrm>
            <a:off x="1276350" y="4012565"/>
            <a:ext cx="1200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00" b="1">
                <a:solidFill>
                  <a:srgbClr val="0B4E74"/>
                </a:solidFill>
                <a:latin typeface="Source Han Sans CN"/>
                <a:ea typeface="Source Han Sans CN"/>
              </a:rPr>
              <a:t>高权重媒体发布</a:t>
            </a:r>
            <a:endParaRPr lang="zh-CN" sz="1400" b="1">
              <a:solidFill>
                <a:srgbClr val="0B4E74"/>
              </a:solidFill>
              <a:latin typeface="Source Han Sans CN"/>
              <a:ea typeface="Source Han Sans CN"/>
            </a:endParaRPr>
          </a:p>
        </p:txBody>
      </p:sp>
      <p:sp>
        <p:nvSpPr>
          <p:cNvPr id="663" name="文本框 662" descr="{&quot;isTemplate&quot;:true,&quot;type&quot;:&quot;text&quot;}"/>
          <p:cNvSpPr txBox="1"/>
          <p:nvPr/>
        </p:nvSpPr>
        <p:spPr>
          <a:xfrm>
            <a:off x="819150" y="4403090"/>
            <a:ext cx="31527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111111"/>
                </a:solidFill>
                <a:latin typeface="Source Han Sans CN"/>
                <a:ea typeface="Source Han Sans CN"/>
              </a:rPr>
              <a:t>5000+ </a:t>
            </a:r>
            <a:r>
              <a:rPr lang="zh-CN" sz="1200">
                <a:solidFill>
                  <a:srgbClr val="111111"/>
                </a:solidFill>
                <a:latin typeface="Source Han Sans CN"/>
                <a:ea typeface="Source Han Sans CN"/>
              </a:rPr>
              <a:t>高权重媒体渠道，</a:t>
            </a:r>
            <a:r>
              <a:rPr lang="en-US" sz="1200">
                <a:solidFill>
                  <a:srgbClr val="111111"/>
                </a:solidFill>
                <a:latin typeface="Source Han Sans CN"/>
                <a:ea typeface="Source Han Sans CN"/>
              </a:rPr>
              <a:t>AI </a:t>
            </a:r>
            <a:r>
              <a:rPr lang="zh-CN" sz="1200">
                <a:solidFill>
                  <a:srgbClr val="111111"/>
                </a:solidFill>
                <a:latin typeface="Source Han Sans CN"/>
                <a:ea typeface="Source Han Sans CN"/>
              </a:rPr>
              <a:t>智能匹配最优投放</a:t>
            </a:r>
            <a:endParaRPr lang="zh-CN" sz="1200">
              <a:solidFill>
                <a:srgbClr val="111111"/>
              </a:solidFill>
              <a:latin typeface="Source Han Sans CN"/>
              <a:ea typeface="Source Han Sans CN"/>
            </a:endParaRPr>
          </a:p>
        </p:txBody>
      </p:sp>
      <p:sp>
        <p:nvSpPr>
          <p:cNvPr id="664" name="圆角矩形 663"/>
          <p:cNvSpPr/>
          <p:nvPr/>
        </p:nvSpPr>
        <p:spPr>
          <a:xfrm>
            <a:off x="819150" y="4774565"/>
            <a:ext cx="3152775" cy="257175"/>
          </a:xfrm>
          <a:prstGeom prst="roundRect">
            <a:avLst>
              <a:gd name="adj" fmla="val 14815"/>
            </a:avLst>
          </a:prstGeom>
          <a:solidFill>
            <a:srgbClr val="E9F5FB"/>
          </a:solidFill>
        </p:spPr>
        <p:txBody>
          <a:bodyPr/>
          <a:p/>
        </p:txBody>
      </p:sp>
      <p:sp>
        <p:nvSpPr>
          <p:cNvPr id="665" name="文本框 664" descr="{&quot;isTemplate&quot;:true,&quot;type&quot;:&quot;text&quot;}"/>
          <p:cNvSpPr txBox="1"/>
          <p:nvPr/>
        </p:nvSpPr>
        <p:spPr>
          <a:xfrm>
            <a:off x="914400" y="4831715"/>
            <a:ext cx="29622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00" b="1">
                <a:solidFill>
                  <a:srgbClr val="1E96CE"/>
                </a:solidFill>
                <a:latin typeface="Source Han Sans CN"/>
                <a:ea typeface="Source Han Sans CN"/>
              </a:rPr>
              <a:t>解决</a:t>
            </a:r>
            <a:r>
              <a:rPr lang="en-US" sz="1000" b="1">
                <a:solidFill>
                  <a:srgbClr val="1E96CE"/>
                </a:solidFill>
                <a:latin typeface="Source Han Sans CN"/>
                <a:ea typeface="Source Han Sans CN"/>
              </a:rPr>
              <a:t>"</a:t>
            </a:r>
            <a:r>
              <a:rPr lang="zh-CN" sz="1000" b="1">
                <a:solidFill>
                  <a:srgbClr val="1E96CE"/>
                </a:solidFill>
                <a:latin typeface="Source Han Sans CN"/>
                <a:ea typeface="Source Han Sans CN"/>
              </a:rPr>
              <a:t>发哪里、怎么发</a:t>
            </a:r>
            <a:r>
              <a:rPr lang="en-US" sz="1000" b="1">
                <a:solidFill>
                  <a:srgbClr val="1E96CE"/>
                </a:solidFill>
                <a:latin typeface="Source Han Sans CN"/>
                <a:ea typeface="Source Han Sans CN"/>
              </a:rPr>
              <a:t>"</a:t>
            </a:r>
            <a:r>
              <a:rPr lang="zh-CN" sz="1000" b="1">
                <a:solidFill>
                  <a:srgbClr val="1E96CE"/>
                </a:solidFill>
                <a:latin typeface="Source Han Sans CN"/>
                <a:ea typeface="Source Han Sans CN"/>
              </a:rPr>
              <a:t>的问题</a:t>
            </a:r>
            <a:endParaRPr lang="zh-CN" sz="1000" b="1">
              <a:solidFill>
                <a:srgbClr val="1E96CE"/>
              </a:solidFill>
              <a:latin typeface="Source Han Sans CN"/>
              <a:ea typeface="Source Han Sans CN"/>
            </a:endParaRPr>
          </a:p>
        </p:txBody>
      </p:sp>
      <p:sp>
        <p:nvSpPr>
          <p:cNvPr id="666" name="圆角矩形 665"/>
          <p:cNvSpPr/>
          <p:nvPr/>
        </p:nvSpPr>
        <p:spPr>
          <a:xfrm>
            <a:off x="4314825" y="3736340"/>
            <a:ext cx="3562350" cy="1504950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p/>
        </p:txBody>
      </p:sp>
      <p:sp>
        <p:nvSpPr>
          <p:cNvPr id="667" name="圆角矩形 666"/>
          <p:cNvSpPr/>
          <p:nvPr/>
        </p:nvSpPr>
        <p:spPr>
          <a:xfrm>
            <a:off x="4524375" y="3945890"/>
            <a:ext cx="342900" cy="342900"/>
          </a:xfrm>
          <a:prstGeom prst="roundRect">
            <a:avLst>
              <a:gd name="adj" fmla="val 50000"/>
            </a:avLst>
          </a:prstGeom>
          <a:ln w="25400">
            <a:solidFill>
              <a:srgbClr val="1E96CE"/>
            </a:solidFill>
            <a:prstDash val="solid"/>
          </a:ln>
        </p:spPr>
        <p:txBody>
          <a:bodyPr/>
          <a:p/>
        </p:txBody>
      </p:sp>
      <p:sp>
        <p:nvSpPr>
          <p:cNvPr id="668" name="文本框 667" descr="{&quot;isTemplate&quot;:true,&quot;type&quot;:&quot;text&quot;}"/>
          <p:cNvSpPr txBox="1"/>
          <p:nvPr/>
        </p:nvSpPr>
        <p:spPr>
          <a:xfrm>
            <a:off x="4619625" y="4022090"/>
            <a:ext cx="152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1E96CE"/>
                </a:solidFill>
                <a:latin typeface="Source Han Sans CN"/>
                <a:ea typeface="Source Han Sans CN"/>
              </a:rPr>
              <a:t>⑤</a:t>
            </a:r>
            <a:endParaRPr sz="1200" b="1">
              <a:solidFill>
                <a:srgbClr val="1E96CE"/>
              </a:solidFill>
              <a:latin typeface="Source Han Sans CN"/>
              <a:ea typeface="Source Han Sans CN"/>
            </a:endParaRPr>
          </a:p>
        </p:txBody>
      </p:sp>
      <p:sp>
        <p:nvSpPr>
          <p:cNvPr id="669" name="文本框 668" descr="{&quot;isTemplate&quot;:true,&quot;type&quot;:&quot;text&quot;}"/>
          <p:cNvSpPr txBox="1"/>
          <p:nvPr/>
        </p:nvSpPr>
        <p:spPr>
          <a:xfrm>
            <a:off x="4981575" y="4012565"/>
            <a:ext cx="1200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00" b="1">
                <a:solidFill>
                  <a:srgbClr val="0B4E74"/>
                </a:solidFill>
                <a:latin typeface="Source Han Sans CN"/>
                <a:ea typeface="Source Han Sans CN"/>
              </a:rPr>
              <a:t>全平台效果监测</a:t>
            </a:r>
            <a:endParaRPr lang="zh-CN" sz="1400" b="1">
              <a:solidFill>
                <a:srgbClr val="0B4E74"/>
              </a:solidFill>
              <a:latin typeface="Source Han Sans CN"/>
              <a:ea typeface="Source Han Sans CN"/>
            </a:endParaRPr>
          </a:p>
        </p:txBody>
      </p:sp>
      <p:sp>
        <p:nvSpPr>
          <p:cNvPr id="670" name="文本框 669" descr="{&quot;isTemplate&quot;:true,&quot;type&quot;:&quot;text&quot;}"/>
          <p:cNvSpPr txBox="1"/>
          <p:nvPr/>
        </p:nvSpPr>
        <p:spPr>
          <a:xfrm>
            <a:off x="4524375" y="4403090"/>
            <a:ext cx="31432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111111"/>
                </a:solidFill>
                <a:latin typeface="Source Han Sans CN"/>
                <a:ea typeface="Source Han Sans CN"/>
              </a:rPr>
              <a:t>6 </a:t>
            </a:r>
            <a:r>
              <a:rPr lang="zh-CN" sz="1200">
                <a:solidFill>
                  <a:srgbClr val="111111"/>
                </a:solidFill>
                <a:latin typeface="Source Han Sans CN"/>
                <a:ea typeface="Source Han Sans CN"/>
              </a:rPr>
              <a:t>大</a:t>
            </a:r>
            <a:r>
              <a:rPr lang="en-US" sz="1200">
                <a:solidFill>
                  <a:srgbClr val="111111"/>
                </a:solidFill>
                <a:latin typeface="Source Han Sans CN"/>
                <a:ea typeface="Source Han Sans CN"/>
              </a:rPr>
              <a:t> AI </a:t>
            </a:r>
            <a:r>
              <a:rPr lang="zh-CN" sz="1200">
                <a:solidFill>
                  <a:srgbClr val="111111"/>
                </a:solidFill>
                <a:latin typeface="Source Han Sans CN"/>
                <a:ea typeface="Source Han Sans CN"/>
              </a:rPr>
              <a:t>平台实时监测，核心指标趋势可视化</a:t>
            </a:r>
            <a:endParaRPr lang="zh-CN" sz="1200">
              <a:solidFill>
                <a:srgbClr val="111111"/>
              </a:solidFill>
              <a:latin typeface="Source Han Sans CN"/>
              <a:ea typeface="Source Han Sans CN"/>
            </a:endParaRPr>
          </a:p>
        </p:txBody>
      </p:sp>
      <p:sp>
        <p:nvSpPr>
          <p:cNvPr id="671" name="圆角矩形 670"/>
          <p:cNvSpPr/>
          <p:nvPr/>
        </p:nvSpPr>
        <p:spPr>
          <a:xfrm>
            <a:off x="4524375" y="4774565"/>
            <a:ext cx="3143250" cy="257175"/>
          </a:xfrm>
          <a:prstGeom prst="roundRect">
            <a:avLst>
              <a:gd name="adj" fmla="val 14815"/>
            </a:avLst>
          </a:prstGeom>
          <a:solidFill>
            <a:srgbClr val="E9F5FB"/>
          </a:solidFill>
        </p:spPr>
        <p:txBody>
          <a:bodyPr/>
          <a:p/>
        </p:txBody>
      </p:sp>
      <p:sp>
        <p:nvSpPr>
          <p:cNvPr id="672" name="文本框 671" descr="{&quot;isTemplate&quot;:true,&quot;type&quot;:&quot;text&quot;}"/>
          <p:cNvSpPr txBox="1"/>
          <p:nvPr/>
        </p:nvSpPr>
        <p:spPr>
          <a:xfrm>
            <a:off x="4619625" y="4831715"/>
            <a:ext cx="29527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00" b="1">
                <a:solidFill>
                  <a:srgbClr val="1E96CE"/>
                </a:solidFill>
                <a:latin typeface="Source Han Sans CN"/>
                <a:ea typeface="Source Han Sans CN"/>
              </a:rPr>
              <a:t>解决</a:t>
            </a:r>
            <a:r>
              <a:rPr lang="en-US" sz="1000" b="1">
                <a:solidFill>
                  <a:srgbClr val="1E96CE"/>
                </a:solidFill>
                <a:latin typeface="Source Han Sans CN"/>
                <a:ea typeface="Source Han Sans CN"/>
              </a:rPr>
              <a:t>"</a:t>
            </a:r>
            <a:r>
              <a:rPr lang="zh-CN" sz="1000" b="1">
                <a:solidFill>
                  <a:srgbClr val="1E96CE"/>
                </a:solidFill>
                <a:latin typeface="Source Han Sans CN"/>
                <a:ea typeface="Source Han Sans CN"/>
              </a:rPr>
              <a:t>做了不知道效果</a:t>
            </a:r>
            <a:r>
              <a:rPr lang="en-US" sz="1000" b="1">
                <a:solidFill>
                  <a:srgbClr val="1E96CE"/>
                </a:solidFill>
                <a:latin typeface="Source Han Sans CN"/>
                <a:ea typeface="Source Han Sans CN"/>
              </a:rPr>
              <a:t>"</a:t>
            </a:r>
            <a:r>
              <a:rPr lang="zh-CN" sz="1000" b="1">
                <a:solidFill>
                  <a:srgbClr val="1E96CE"/>
                </a:solidFill>
                <a:latin typeface="Source Han Sans CN"/>
                <a:ea typeface="Source Han Sans CN"/>
              </a:rPr>
              <a:t>的问题</a:t>
            </a:r>
            <a:endParaRPr lang="zh-CN" sz="1000" b="1">
              <a:solidFill>
                <a:srgbClr val="1E96CE"/>
              </a:solidFill>
              <a:latin typeface="Source Han Sans CN"/>
              <a:ea typeface="Source Han Sans CN"/>
            </a:endParaRPr>
          </a:p>
        </p:txBody>
      </p:sp>
      <p:sp>
        <p:nvSpPr>
          <p:cNvPr id="673" name="圆角矩形 672"/>
          <p:cNvSpPr/>
          <p:nvPr/>
        </p:nvSpPr>
        <p:spPr>
          <a:xfrm>
            <a:off x="8010525" y="3736340"/>
            <a:ext cx="3571875" cy="1504950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p/>
        </p:txBody>
      </p:sp>
      <p:sp>
        <p:nvSpPr>
          <p:cNvPr id="674" name="圆角矩形 673"/>
          <p:cNvSpPr/>
          <p:nvPr/>
        </p:nvSpPr>
        <p:spPr>
          <a:xfrm>
            <a:off x="8220075" y="3945890"/>
            <a:ext cx="342900" cy="342900"/>
          </a:xfrm>
          <a:prstGeom prst="roundRect">
            <a:avLst>
              <a:gd name="adj" fmla="val 50000"/>
            </a:avLst>
          </a:prstGeom>
          <a:ln w="25400">
            <a:solidFill>
              <a:srgbClr val="1E96CE"/>
            </a:solidFill>
            <a:prstDash val="solid"/>
          </a:ln>
        </p:spPr>
        <p:txBody>
          <a:bodyPr/>
          <a:p/>
        </p:txBody>
      </p:sp>
      <p:sp>
        <p:nvSpPr>
          <p:cNvPr id="675" name="文本框 674" descr="{&quot;isTemplate&quot;:true,&quot;type&quot;:&quot;text&quot;}"/>
          <p:cNvSpPr txBox="1"/>
          <p:nvPr/>
        </p:nvSpPr>
        <p:spPr>
          <a:xfrm>
            <a:off x="8315325" y="4022090"/>
            <a:ext cx="152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1E96CE"/>
                </a:solidFill>
                <a:latin typeface="Source Han Sans CN"/>
                <a:ea typeface="Source Han Sans CN"/>
              </a:rPr>
              <a:t>⑥</a:t>
            </a:r>
            <a:endParaRPr sz="1200" b="1">
              <a:solidFill>
                <a:srgbClr val="1E96CE"/>
              </a:solidFill>
              <a:latin typeface="Source Han Sans CN"/>
              <a:ea typeface="Source Han Sans CN"/>
            </a:endParaRPr>
          </a:p>
        </p:txBody>
      </p:sp>
      <p:sp>
        <p:nvSpPr>
          <p:cNvPr id="676" name="文本框 675" descr="{&quot;isTemplate&quot;:true,&quot;type&quot;:&quot;text&quot;}"/>
          <p:cNvSpPr txBox="1"/>
          <p:nvPr/>
        </p:nvSpPr>
        <p:spPr>
          <a:xfrm>
            <a:off x="8677275" y="4012565"/>
            <a:ext cx="8572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00" b="1">
                <a:solidFill>
                  <a:srgbClr val="0B4E74"/>
                </a:solidFill>
                <a:latin typeface="Source Han Sans CN"/>
                <a:ea typeface="Source Han Sans CN"/>
              </a:rPr>
              <a:t>智能体官网</a:t>
            </a:r>
            <a:endParaRPr lang="zh-CN" sz="1400" b="1">
              <a:solidFill>
                <a:srgbClr val="0B4E74"/>
              </a:solidFill>
              <a:latin typeface="Source Han Sans CN"/>
              <a:ea typeface="Source Han Sans CN"/>
            </a:endParaRPr>
          </a:p>
        </p:txBody>
      </p:sp>
      <p:sp>
        <p:nvSpPr>
          <p:cNvPr id="677" name="文本框 676" descr="{&quot;isTemplate&quot;:true,&quot;type&quot;:&quot;text&quot;}"/>
          <p:cNvSpPr txBox="1"/>
          <p:nvPr/>
        </p:nvSpPr>
        <p:spPr>
          <a:xfrm>
            <a:off x="8220075" y="4403090"/>
            <a:ext cx="31527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111111"/>
                </a:solidFill>
                <a:latin typeface="Source Han Sans CN"/>
                <a:ea typeface="Source Han Sans CN"/>
              </a:rPr>
              <a:t>为品牌生成</a:t>
            </a:r>
            <a:r>
              <a:rPr lang="en-US" sz="1200">
                <a:solidFill>
                  <a:srgbClr val="111111"/>
                </a:solidFill>
                <a:latin typeface="Source Han Sans CN"/>
                <a:ea typeface="Source Han Sans CN"/>
              </a:rPr>
              <a:t> AI </a:t>
            </a:r>
            <a:r>
              <a:rPr lang="zh-CN" sz="1200">
                <a:solidFill>
                  <a:srgbClr val="111111"/>
                </a:solidFill>
                <a:latin typeface="Source Han Sans CN"/>
                <a:ea typeface="Source Han Sans CN"/>
              </a:rPr>
              <a:t>友好型官网，持续积累品牌权重</a:t>
            </a:r>
            <a:endParaRPr lang="zh-CN" sz="1200">
              <a:solidFill>
                <a:srgbClr val="111111"/>
              </a:solidFill>
              <a:latin typeface="Source Han Sans CN"/>
              <a:ea typeface="Source Han Sans CN"/>
            </a:endParaRPr>
          </a:p>
        </p:txBody>
      </p:sp>
      <p:sp>
        <p:nvSpPr>
          <p:cNvPr id="678" name="圆角矩形 677"/>
          <p:cNvSpPr/>
          <p:nvPr/>
        </p:nvSpPr>
        <p:spPr>
          <a:xfrm>
            <a:off x="8220075" y="4774565"/>
            <a:ext cx="3152775" cy="257175"/>
          </a:xfrm>
          <a:prstGeom prst="roundRect">
            <a:avLst>
              <a:gd name="adj" fmla="val 14815"/>
            </a:avLst>
          </a:prstGeom>
          <a:solidFill>
            <a:srgbClr val="E9F5FB"/>
          </a:solidFill>
        </p:spPr>
        <p:txBody>
          <a:bodyPr/>
          <a:p/>
        </p:txBody>
      </p:sp>
      <p:sp>
        <p:nvSpPr>
          <p:cNvPr id="679" name="文本框 678" descr="{&quot;isTemplate&quot;:true,&quot;type&quot;:&quot;text&quot;}"/>
          <p:cNvSpPr txBox="1"/>
          <p:nvPr/>
        </p:nvSpPr>
        <p:spPr>
          <a:xfrm>
            <a:off x="8315325" y="4831715"/>
            <a:ext cx="29622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00" b="1">
                <a:solidFill>
                  <a:srgbClr val="1E96CE"/>
                </a:solidFill>
                <a:latin typeface="Source Han Sans CN"/>
                <a:ea typeface="Source Han Sans CN"/>
              </a:rPr>
              <a:t>解决</a:t>
            </a:r>
            <a:r>
              <a:rPr lang="en-US" sz="1000" b="1">
                <a:solidFill>
                  <a:srgbClr val="1E96CE"/>
                </a:solidFill>
                <a:latin typeface="Source Han Sans CN"/>
                <a:ea typeface="Source Han Sans CN"/>
              </a:rPr>
              <a:t>"</a:t>
            </a:r>
            <a:r>
              <a:rPr lang="zh-CN" sz="1000" b="1">
                <a:solidFill>
                  <a:srgbClr val="1E96CE"/>
                </a:solidFill>
                <a:latin typeface="Source Han Sans CN"/>
                <a:ea typeface="Source Han Sans CN"/>
              </a:rPr>
              <a:t>没有权威信源</a:t>
            </a:r>
            <a:r>
              <a:rPr lang="en-US" sz="1000" b="1">
                <a:solidFill>
                  <a:srgbClr val="1E96CE"/>
                </a:solidFill>
                <a:latin typeface="Source Han Sans CN"/>
                <a:ea typeface="Source Han Sans CN"/>
              </a:rPr>
              <a:t>"</a:t>
            </a:r>
            <a:r>
              <a:rPr lang="zh-CN" sz="1000" b="1">
                <a:solidFill>
                  <a:srgbClr val="1E96CE"/>
                </a:solidFill>
                <a:latin typeface="Source Han Sans CN"/>
                <a:ea typeface="Source Han Sans CN"/>
              </a:rPr>
              <a:t>的问题</a:t>
            </a:r>
            <a:endParaRPr lang="zh-CN" sz="1000" b="1">
              <a:solidFill>
                <a:srgbClr val="1E96CE"/>
              </a:solidFill>
              <a:latin typeface="Source Han Sans CN"/>
              <a:ea typeface="Source Han Sans C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目标客户画像：谁需要GEOForce？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29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C3E5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4999" b="5000"/>
          <a:stretch>
            <a:fillRect/>
          </a:stretch>
        </p:blipFill>
        <p:spPr>
          <a:xfrm>
            <a:off x="889000" y="1841500"/>
            <a:ext cx="3175000" cy="19050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889000" y="3937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01 中小企业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4445000"/>
            <a:ext cx="317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C3E5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特征：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预算有限，缺乏专业营销团队，迫切希望通过线上渠道低成本获客。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E74C3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传统SEO效果不佳，对AI搜索玩法陌生，难以突破流量瓶颈。</a:t>
            </a:r>
            <a:endParaRPr lang="en-US" sz="1300" b="0" i="0" u="none" strike="noStrike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381500" y="1651000"/>
            <a:ext cx="3429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C3E5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 t="28782" b="28782"/>
          <a:stretch>
            <a:fillRect/>
          </a:stretch>
        </p:blipFill>
        <p:spPr>
          <a:xfrm>
            <a:off x="4508500" y="1841500"/>
            <a:ext cx="3175000" cy="19050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4508500" y="3937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02 本地生活服务商家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08500" y="4445000"/>
            <a:ext cx="317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C3E5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特征：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涵盖餐饮、零售、</a:t>
            </a:r>
            <a:r>
              <a:rPr lang="zh-CN" alt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电商</a:t>
            </a:r>
            <a:r>
              <a:rPr lang="en-US" altLang="zh-CN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美容、教育</a:t>
            </a:r>
            <a:r>
              <a:rPr lang="zh-CN" alt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培训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zh-CN" alt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装修</a:t>
            </a:r>
            <a:r>
              <a:rPr lang="en-US" altLang="zh-CN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zh-CN" alt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家电维修</a:t>
            </a:r>
            <a:r>
              <a:rPr lang="en-US" altLang="zh-CN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zh-CN" alt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汽配汽修</a:t>
            </a:r>
            <a:r>
              <a:rPr lang="en-US" altLang="zh-CN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zh-CN" alt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搬家</a:t>
            </a:r>
            <a:r>
              <a:rPr lang="en-US" altLang="zh-CN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zh-CN" alt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家政服务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等线下门店，依赖周边客流生存。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E74C3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希望在本地AI搜索中获得优先推荐，吸引周边高意向顾客进店。</a:t>
            </a:r>
            <a:endParaRPr lang="en-US" sz="1300" b="0" i="0" u="none" strike="noStrike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001000" y="1651000"/>
            <a:ext cx="3429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C3E5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128000" y="1841500"/>
            <a:ext cx="3175000" cy="1905000"/>
          </a:xfrm>
          <a:prstGeom prst="roundRect">
            <a:avLst>
              <a:gd name="adj" fmla="val 0"/>
            </a:avLst>
          </a:prstGeom>
          <a:solidFill>
            <a:srgbClr val="2C3E5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09100" y="2387600"/>
            <a:ext cx="812800" cy="812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128000" y="3937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03 专业服务机构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28000" y="4445000"/>
            <a:ext cx="317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C3E5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特征：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律师、会计师、咨询顾问等专业人士，提供高客单价服务。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E74C3C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需在垂直领域AI问答中建立权威形象，获取精准的高净值客户。</a:t>
            </a:r>
            <a:endParaRPr lang="en-US" sz="1300" b="0" i="0" u="none" strike="noStrike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合作优势：为什么选择我们？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8083" r="8083"/>
          <a:stretch>
            <a:fillRect/>
          </a:stretch>
        </p:blipFill>
        <p:spPr>
          <a:xfrm>
            <a:off x="762000" y="1778000"/>
            <a:ext cx="3556000" cy="3556000"/>
          </a:xfrm>
          <a:prstGeom prst="roundRect">
            <a:avLst>
              <a:gd name="adj" fmla="val 428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52400" dist="50800" dir="2700000" algn="tl">
              <a:srgbClr val="2C3E50">
                <a:alpha val="1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4826000" y="1778000"/>
            <a:ext cx="3365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C3E5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16500" y="1968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5397500" y="19304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zh-CN" altLang="en-US" sz="18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背景强</a:t>
            </a:r>
            <a:r>
              <a:rPr lang="zh-CN" altLang="en-US" sz="18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大</a:t>
            </a:r>
            <a:endParaRPr lang="zh-CN" altLang="en-US" sz="1800" b="1" i="0" u="none" strike="noStrike">
              <a:solidFill>
                <a:srgbClr val="2C3E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005070" y="2430780"/>
            <a:ext cx="298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sz="1300">
                <a:solidFill>
                  <a:schemeClr val="tx1"/>
                </a:solidFill>
                <a:latin typeface="Source Han Sans CN"/>
                <a:ea typeface="Source Han Sans CN"/>
                <a:sym typeface="+mn-ea"/>
              </a:rPr>
              <a:t>背靠中国最大的数字化媒体集团分众</a:t>
            </a:r>
            <a:r>
              <a:rPr lang="zh-CN" sz="1300">
                <a:solidFill>
                  <a:schemeClr val="tx1"/>
                </a:solidFill>
                <a:latin typeface="Source Han Sans CN"/>
                <a:ea typeface="Source Han Sans CN"/>
                <a:sym typeface="+mn-ea"/>
              </a:rPr>
              <a:t>传媒，整合</a:t>
            </a:r>
            <a:r>
              <a:rPr lang="en-US" sz="1300">
                <a:solidFill>
                  <a:schemeClr val="tx1"/>
                </a:solidFill>
                <a:latin typeface="Source Han Sans CN"/>
                <a:ea typeface="Source Han Sans CN"/>
                <a:sym typeface="+mn-ea"/>
              </a:rPr>
              <a:t> 20 </a:t>
            </a:r>
            <a:r>
              <a:rPr lang="zh-CN" sz="1300">
                <a:solidFill>
                  <a:schemeClr val="tx1"/>
                </a:solidFill>
                <a:latin typeface="Source Han Sans CN"/>
                <a:ea typeface="Source Han Sans CN"/>
                <a:sym typeface="+mn-ea"/>
              </a:rPr>
              <a:t>年营销实战经验与</a:t>
            </a:r>
            <a:r>
              <a:rPr lang="en-US" sz="1300">
                <a:solidFill>
                  <a:schemeClr val="tx1"/>
                </a:solidFill>
                <a:latin typeface="Source Han Sans CN"/>
                <a:ea typeface="Source Han Sans CN"/>
                <a:sym typeface="+mn-ea"/>
              </a:rPr>
              <a:t> 1500+ </a:t>
            </a:r>
            <a:r>
              <a:rPr lang="zh-CN" sz="1300">
                <a:solidFill>
                  <a:schemeClr val="tx1"/>
                </a:solidFill>
                <a:latin typeface="Source Han Sans CN"/>
                <a:ea typeface="Source Han Sans CN"/>
                <a:sym typeface="+mn-ea"/>
              </a:rPr>
              <a:t>客户案例；</a:t>
            </a:r>
            <a:r>
              <a:rPr lang="en-US" sz="1300">
                <a:solidFill>
                  <a:schemeClr val="tx1"/>
                </a:solidFill>
                <a:latin typeface="Source Han Sans CN"/>
                <a:ea typeface="Source Han Sans CN"/>
                <a:sym typeface="+mn-ea"/>
              </a:rPr>
              <a:t>GEO </a:t>
            </a:r>
            <a:r>
              <a:rPr lang="zh-CN" sz="1300">
                <a:solidFill>
                  <a:schemeClr val="tx1"/>
                </a:solidFill>
                <a:latin typeface="Source Han Sans CN"/>
                <a:ea typeface="Source Han Sans CN"/>
                <a:sym typeface="+mn-ea"/>
              </a:rPr>
              <a:t>团体标准制定者，全栈自研技术，已服务数十家行业头部品牌。</a:t>
            </a:r>
            <a:endParaRPr lang="en-US" sz="1300" b="0" i="0" u="none" strike="noStrike">
              <a:solidFill>
                <a:schemeClr val="tx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318500" y="1778000"/>
            <a:ext cx="3365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C3E5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9000" y="1968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8890000" y="19304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02 产品力强大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509000" y="2329180"/>
            <a:ext cx="298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sz="1300">
                <a:solidFill>
                  <a:schemeClr val="tx1"/>
                </a:solidFill>
                <a:latin typeface="Source Han Sans CN"/>
                <a:ea typeface="Source Han Sans CN"/>
                <a:sym typeface="+mn-ea"/>
              </a:rPr>
              <a:t>真自研</a:t>
            </a:r>
            <a:r>
              <a:rPr lang="en-US" sz="1300">
                <a:solidFill>
                  <a:schemeClr val="tx1"/>
                </a:solidFill>
                <a:latin typeface="Source Han Sans CN"/>
                <a:ea typeface="Source Han Sans CN"/>
                <a:sym typeface="+mn-ea"/>
              </a:rPr>
              <a:t> · </a:t>
            </a:r>
            <a:r>
              <a:rPr lang="zh-CN" sz="1300">
                <a:solidFill>
                  <a:schemeClr val="tx1"/>
                </a:solidFill>
                <a:latin typeface="Source Han Sans CN"/>
                <a:ea typeface="Source Han Sans CN"/>
                <a:sym typeface="+mn-ea"/>
              </a:rPr>
              <a:t>真优化</a:t>
            </a:r>
            <a:r>
              <a:rPr lang="en-US" sz="1300">
                <a:solidFill>
                  <a:schemeClr val="tx1"/>
                </a:solidFill>
                <a:latin typeface="Source Han Sans CN"/>
                <a:ea typeface="Source Han Sans CN"/>
                <a:sym typeface="+mn-ea"/>
              </a:rPr>
              <a:t> · </a:t>
            </a:r>
            <a:r>
              <a:rPr lang="zh-CN" sz="1300">
                <a:solidFill>
                  <a:schemeClr val="tx1"/>
                </a:solidFill>
                <a:latin typeface="Source Han Sans CN"/>
                <a:ea typeface="Source Han Sans CN"/>
                <a:sym typeface="+mn-ea"/>
              </a:rPr>
              <a:t>真合规</a:t>
            </a:r>
            <a:r>
              <a:rPr lang="en-US" sz="1300">
                <a:solidFill>
                  <a:schemeClr val="tx1"/>
                </a:solidFill>
                <a:latin typeface="Source Han Sans CN"/>
                <a:ea typeface="Source Han Sans CN"/>
                <a:sym typeface="+mn-ea"/>
              </a:rPr>
              <a:t> · </a:t>
            </a:r>
            <a:r>
              <a:rPr lang="zh-CN" sz="1300">
                <a:solidFill>
                  <a:schemeClr val="tx1"/>
                </a:solidFill>
                <a:latin typeface="Source Han Sans CN"/>
                <a:ea typeface="Source Han Sans CN"/>
                <a:sym typeface="+mn-ea"/>
              </a:rPr>
              <a:t>真效果——</a:t>
            </a:r>
            <a:r>
              <a:rPr lang="en-US" sz="1300">
                <a:solidFill>
                  <a:srgbClr val="1E96CE"/>
                </a:solidFill>
                <a:latin typeface="Source Han Sans CN"/>
                <a:ea typeface="Source Han Sans CN"/>
                <a:sym typeface="+mn-ea"/>
              </a:rPr>
              <a:t>GEOForce </a:t>
            </a:r>
            <a:r>
              <a:rPr lang="zh-CN" sz="1300">
                <a:solidFill>
                  <a:srgbClr val="1E96CE"/>
                </a:solidFill>
                <a:latin typeface="Source Han Sans CN"/>
                <a:ea typeface="Source Han Sans CN"/>
                <a:sym typeface="+mn-ea"/>
              </a:rPr>
              <a:t>用</a:t>
            </a:r>
            <a:r>
              <a:rPr lang="en-US" sz="1300">
                <a:solidFill>
                  <a:srgbClr val="1E96CE"/>
                </a:solidFill>
                <a:latin typeface="Source Han Sans CN"/>
                <a:ea typeface="Source Han Sans CN"/>
                <a:sym typeface="+mn-ea"/>
              </a:rPr>
              <a:t>"</a:t>
            </a:r>
            <a:r>
              <a:rPr lang="zh-CN" sz="1300">
                <a:solidFill>
                  <a:srgbClr val="1E96CE"/>
                </a:solidFill>
                <a:latin typeface="Source Han Sans CN"/>
                <a:ea typeface="Source Han Sans CN"/>
                <a:sym typeface="+mn-ea"/>
              </a:rPr>
              <a:t>真</a:t>
            </a:r>
            <a:r>
              <a:rPr lang="en-US" sz="1300">
                <a:solidFill>
                  <a:srgbClr val="1E96CE"/>
                </a:solidFill>
                <a:latin typeface="Source Han Sans CN"/>
                <a:ea typeface="Source Han Sans CN"/>
                <a:sym typeface="+mn-ea"/>
              </a:rPr>
              <a:t>"</a:t>
            </a:r>
            <a:r>
              <a:rPr lang="zh-CN" sz="1300">
                <a:solidFill>
                  <a:srgbClr val="1E96CE"/>
                </a:solidFill>
                <a:latin typeface="Source Han Sans CN"/>
                <a:ea typeface="Source Han Sans CN"/>
                <a:sym typeface="+mn-ea"/>
              </a:rPr>
              <a:t>字当头的技术，让品牌在</a:t>
            </a:r>
            <a:r>
              <a:rPr lang="en-US" sz="1300">
                <a:solidFill>
                  <a:srgbClr val="1E96CE"/>
                </a:solidFill>
                <a:latin typeface="Source Han Sans CN"/>
                <a:ea typeface="Source Han Sans CN"/>
                <a:sym typeface="+mn-ea"/>
              </a:rPr>
              <a:t> AI </a:t>
            </a:r>
            <a:r>
              <a:rPr lang="zh-CN" sz="1300">
                <a:solidFill>
                  <a:srgbClr val="1E96CE"/>
                </a:solidFill>
                <a:latin typeface="Source Han Sans CN"/>
                <a:ea typeface="Source Han Sans CN"/>
                <a:sym typeface="+mn-ea"/>
              </a:rPr>
              <a:t>搜索中真实增长</a:t>
            </a:r>
            <a:r>
              <a:rPr lang="zh-CN" sz="1300">
                <a:solidFill>
                  <a:srgbClr val="0B4E74"/>
                </a:solidFill>
                <a:latin typeface="Source Han Sans CN"/>
                <a:ea typeface="Source Han Sans CN"/>
                <a:sym typeface="+mn-ea"/>
              </a:rPr>
              <a:t>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826000" y="3873500"/>
            <a:ext cx="3365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C3E5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16500" y="4064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397500" y="40259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03 全面支持体系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016500" y="4508500"/>
            <a:ext cx="298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提供从销售技巧培训、全套市场物料支持到7×24小时技术响应的全方位服务，为业务拓展与客户服务保驾护航。</a:t>
            </a:r>
            <a:endParaRPr lang="en-US" sz="1300" b="0" i="0" u="none" strike="noStrike">
              <a:solidFill>
                <a:schemeClr val="tx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318500" y="3873500"/>
            <a:ext cx="3365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C3E5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09000" y="4064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890000" y="40259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04 市场前景广阔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509000" y="4508500"/>
            <a:ext cx="298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紧抓AI搜索时代的行业风口与巨大机遇，依托领先技术与成熟生态，与合作伙伴共同成长，共享数字经济红利。</a:t>
            </a:r>
            <a:endParaRPr lang="en-US" sz="1300" b="0" i="0" u="none" strike="noStrike">
              <a:solidFill>
                <a:schemeClr val="tx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62000" y="5842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携手共进，共创AI时代的商业新机遇，开启长期共赢的合作伙伴关系！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960235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代理政策：极具竞争力的合作方案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C3E5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2413000"/>
            <a:ext cx="3124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5折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2C3E5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超低折扣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238500"/>
            <a:ext cx="3124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C3E5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充值金额：20万元起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06900" y="17780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C3E5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597400" y="2413000"/>
            <a:ext cx="3124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6折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2C3E5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优惠让利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97400" y="3238500"/>
            <a:ext cx="3124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C3E5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充值金额：10万元起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51800" y="17780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C3E5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242300" y="2413000"/>
            <a:ext cx="3124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7折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2C3E5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轻松起步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42300" y="3238500"/>
            <a:ext cx="3124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C3E5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充值金额：5万元起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413000" y="4445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2C3E5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3500" y="4635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2984500" y="46355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核心算力定义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2603500" y="5080000"/>
            <a:ext cx="299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2C3E5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平台内进行内容生成、智能优化、</a:t>
            </a:r>
            <a:r>
              <a:rPr lang="zh-CN" altLang="en-US" sz="1300" b="0" i="0" u="none" strike="noStrike">
                <a:solidFill>
                  <a:srgbClr val="2C3E5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媒体发布</a:t>
            </a:r>
            <a:r>
              <a:rPr lang="en-US" altLang="zh-CN" sz="1300" b="0" i="0" u="none" strike="noStrike">
                <a:solidFill>
                  <a:srgbClr val="2C3E5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sz="1300" b="0" i="0" u="none" strike="noStrike">
                <a:solidFill>
                  <a:srgbClr val="2C3E5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数据分析等操作所需的基础资源单位，是所有智能服务的计费基础。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169025" y="4445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2C3E5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9525" y="4635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740525" y="46355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阶梯式利润增长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59525" y="5080000"/>
            <a:ext cx="299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2C3E5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充值金额越高，获得的算力折扣力度越大，直接降低运营成本，为合作伙伴预留更丰厚的利润空间。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客户开发策略：如何找到您的客户？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495" b="495"/>
          <a:stretch>
            <a:fillRect/>
          </a:stretch>
        </p:blipFill>
        <p:spPr>
          <a:xfrm>
            <a:off x="762000" y="1778000"/>
            <a:ext cx="4572000" cy="254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190500" dist="76200" dir="2700000" algn="tl">
              <a:srgbClr val="2C3E50">
                <a:alpha val="12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699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C3E5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线下研讨会不仅是展示产品的舞台，更是建立深度信任、直接触达决策层的高效方式。面对面的交流能有效消除疑虑，显著提升客户转化率与合作意愿。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588000" y="1778000"/>
            <a:ext cx="5842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C3E50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842000" y="19304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01 线上渠道：精准触达，全域引流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2000" y="2476500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159500" y="2438400"/>
            <a:ext cx="171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内容营销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2C3E5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发布GEO优化案例与干货文章，吸引潜在客户主动咨询，建立专业形象。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0" y="24765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937500" y="2438400"/>
            <a:ext cx="171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社群渗透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2C3E5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锁定中小企业主、本地商家社群，进行针对性推广与价值输出。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98000" y="24765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9715500" y="2438400"/>
            <a:ext cx="171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精准广告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2C3E5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投放“AI搜索优化”等高转化关键词，覆盖有明确需求的搜索用户。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588000" y="4000500"/>
            <a:ext cx="5842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C3E50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842000" y="41529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02 线下渠道：深度链接，信任变现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42000" y="46990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159500" y="4660900"/>
            <a:ext cx="171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行业研讨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2C3E5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举办或参与商业峰会，现场演示产品，增强说服力与影响力。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20000" y="46990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937500" y="4660900"/>
            <a:ext cx="171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商会联盟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2C3E5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与各地商会、行业协会建立合作，借助平台影响力批量获客。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398000" y="46990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715500" y="4660900"/>
            <a:ext cx="171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口碑裂变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2C3E5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建立转介绍激励机制，利用客户口碑实现低成本高效获客。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市场上目前产品包方式的</a:t>
            </a:r>
            <a:r>
              <a:rPr lang="zh-CN" altLang="en-US" sz="32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局限性</a:t>
            </a:r>
            <a:endParaRPr lang="zh-CN" altLang="en-US" sz="3200" b="1" i="0" u="none" strike="noStrike">
              <a:solidFill>
                <a:srgbClr val="2C3E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11302"/>
          <a:stretch>
            <a:fillRect/>
          </a:stretch>
        </p:blipFill>
        <p:spPr>
          <a:xfrm>
            <a:off x="5181600" y="1635125"/>
            <a:ext cx="3147695" cy="37026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2965" y="2538730"/>
            <a:ext cx="3399155" cy="370268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62000" y="1839595"/>
            <a:ext cx="3977005" cy="1426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1、</a:t>
            </a:r>
            <a:r>
              <a:rPr lang="zh-CN" altLang="en-US" sz="2000"/>
              <a:t>主推年度产品包</a:t>
            </a:r>
            <a:r>
              <a:rPr lang="en-US" altLang="zh-CN" sz="2000"/>
              <a:t>，</a:t>
            </a:r>
            <a:r>
              <a:rPr lang="zh-CN" altLang="en-US" sz="2000"/>
              <a:t>起步门槛高</a:t>
            </a:r>
            <a:r>
              <a:rPr lang="en-US" altLang="zh-CN" sz="2000"/>
              <a:t>，</a:t>
            </a:r>
            <a:r>
              <a:rPr lang="zh-CN" altLang="en-US" sz="2000"/>
              <a:t>万一无效</a:t>
            </a:r>
            <a:r>
              <a:rPr lang="en-US" altLang="zh-CN" sz="2000"/>
              <a:t>，</a:t>
            </a:r>
            <a:r>
              <a:rPr lang="zh-CN" altLang="en-US" sz="2000"/>
              <a:t>全打水漂</a:t>
            </a:r>
            <a:r>
              <a:rPr lang="en-US" altLang="zh-CN" sz="2000"/>
              <a:t>，</a:t>
            </a:r>
            <a:r>
              <a:rPr lang="zh-CN" altLang="en-US" sz="2000"/>
              <a:t>容易引起客</a:t>
            </a:r>
            <a:r>
              <a:rPr lang="zh-CN" altLang="en-US" sz="2000"/>
              <a:t>诉</a:t>
            </a:r>
            <a:endParaRPr lang="zh-CN" altLang="en-US" sz="2000"/>
          </a:p>
          <a:p>
            <a:endParaRPr lang="zh-CN" altLang="en-US" sz="2000"/>
          </a:p>
          <a:p>
            <a:r>
              <a:rPr lang="en-US" altLang="zh-CN" sz="2000"/>
              <a:t>2、</a:t>
            </a:r>
            <a:r>
              <a:rPr lang="zh-CN" altLang="en-US" sz="2000"/>
              <a:t>产品包所含媒体</a:t>
            </a:r>
            <a:r>
              <a:rPr lang="en-US" altLang="zh-CN" sz="2000"/>
              <a:t>，</a:t>
            </a:r>
            <a:r>
              <a:rPr lang="zh-CN" altLang="en-US" sz="2000"/>
              <a:t>因成本关系</a:t>
            </a:r>
            <a:r>
              <a:rPr lang="en-US" altLang="zh-CN" sz="2000"/>
              <a:t>，</a:t>
            </a:r>
            <a:r>
              <a:rPr lang="zh-CN" altLang="en-US" sz="2000"/>
              <a:t>以低价媒体为主</a:t>
            </a:r>
            <a:r>
              <a:rPr lang="en-US" altLang="zh-CN" sz="2000"/>
              <a:t>，</a:t>
            </a:r>
            <a:r>
              <a:rPr lang="zh-CN" altLang="en-US" sz="2000"/>
              <a:t>被优化客户</a:t>
            </a:r>
            <a:r>
              <a:rPr lang="en-US" altLang="zh-CN" sz="2000"/>
              <a:t>，</a:t>
            </a:r>
            <a:r>
              <a:rPr lang="zh-CN" altLang="en-US" sz="2000"/>
              <a:t>如难度提升</a:t>
            </a:r>
            <a:r>
              <a:rPr lang="en-US" altLang="zh-CN" sz="2000"/>
              <a:t>，</a:t>
            </a:r>
            <a:r>
              <a:rPr lang="zh-CN" altLang="en-US" sz="2000"/>
              <a:t>无法选择</a:t>
            </a:r>
            <a:r>
              <a:rPr lang="zh-CN" altLang="en-US" sz="2000"/>
              <a:t>高权重优质媒体进行</a:t>
            </a:r>
            <a:r>
              <a:rPr lang="zh-CN" altLang="en-US" sz="2000"/>
              <a:t>发布</a:t>
            </a:r>
            <a:endParaRPr lang="zh-CN" altLang="en-US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支持与培训：我们为您保驾护航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C3E5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2860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01 销售支持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211">
            <a:off x="1016014" y="285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C3E5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984500"/>
            <a:ext cx="287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系统化培训赋能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2C3E5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覆盖产品知识、销售技巧与客户开发策略，全方位提升团队实战能力。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全套物料配备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2C3E5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提供产品手册、演示PPT、标杆案例集等，助力高效转化与客户信任建立。</a:t>
            </a:r>
            <a:endParaRPr lang="en-US" sz="1300" b="0" i="0" u="none" strike="noStrike">
              <a:solidFill>
                <a:srgbClr val="2C3E50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06900" y="2032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C3E5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286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68900" y="22860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02 技术支持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5211">
            <a:off x="4660914" y="285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C3E5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60900" y="2984500"/>
            <a:ext cx="287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7x24小时极速响应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2C3E5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专业技术团队全天候在线，快速解决售前咨询与售后故障，保障业务零中断。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持续迭代升级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2C3E5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定期进行功能优化与版本更新，紧跟市场趋势，保持产品核心竞争力。</a:t>
            </a:r>
            <a:endParaRPr lang="en-US" sz="1300" b="0" i="0" u="none" strike="noStrike">
              <a:solidFill>
                <a:srgbClr val="2C3E50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051800" y="2032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C3E5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5800" y="2286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13800" y="22860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03 市场支持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211">
            <a:off x="8305814" y="285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C3E5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305800" y="2984500"/>
            <a:ext cx="287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全国品牌联合造势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2C3E5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总部统筹线上线下多渠道推广，持续提升品牌知名度与市场影响力。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本地化活动赋能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2C3E5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提供物料、讲师支持，助力代理商举办推介会、展会等市场活动。</a:t>
            </a:r>
            <a:endParaRPr lang="en-US" sz="1300" b="0" i="0" u="none" strike="noStrike">
              <a:solidFill>
                <a:srgbClr val="2C3E50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558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0" i="1" u="none" strike="noStrike">
                <a:solidFill>
                  <a:srgbClr val="2C3E50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“我们致力于构建共生共赢的合作伙伴生态，为您提供从启动到持续增长的全周期护航。”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成功案例：某本地连锁咖啡馆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782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C3E5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01 客户背景与痛点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349500"/>
            <a:ext cx="29972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上海知名连锁咖啡品牌，深耕核心商圈，拥有5家直营门店。面临本地搜索曝光不足、线上流量转化低的困境，急需突破AI搜索流量壁垒。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06900" y="1651000"/>
            <a:ext cx="33782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C3E5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597400" y="184150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02 搜索排名跃升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97400" y="2349500"/>
            <a:ext cx="29972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从“未入推荐列表”到跻身AI搜索前三，精准覆盖“适合办公”、“网红打卡”等长尾需求，实现搜索结果的精准占位与流量承接。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051800" y="1651000"/>
            <a:ext cx="33782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C3E5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8242300" y="184150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03 渠道收益回报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242300" y="2349500"/>
            <a:ext cx="29972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客户单次充值10万元，代理商直接获利4万元，利润率高达40%。依托高价值本地商家需求，持续创造稳定可观的利润空间。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318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2C3E5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45085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97000" y="45085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到店客流显著增长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52500" y="5016500"/>
            <a:ext cx="299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+35%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52500" y="5715000"/>
            <a:ext cx="299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门店自然流量激增，客源结构更优质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406900" y="4318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2C3E5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7400" y="45085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5041900" y="45085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线上订单持续攀升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597400" y="5016500"/>
            <a:ext cx="299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+28%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597400" y="5715000"/>
            <a:ext cx="299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搜索引流带动线上订单量稳步提升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051800" y="4318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2C3E5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2300" y="45085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686800" y="45085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代理商利润回报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242300" y="5016500"/>
            <a:ext cx="299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40%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242300" y="5715000"/>
            <a:ext cx="299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高利润率助力渠道快速变现盈利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540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立即加入我们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810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共创 AI 搜索新纪元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5080000"/>
            <a:ext cx="10160000" cy="1143000"/>
          </a:xfrm>
          <a:prstGeom prst="roundRect">
            <a:avLst>
              <a:gd name="adj" fmla="val 0"/>
            </a:avLst>
          </a:prstGeom>
          <a:solidFill>
            <a:srgbClr val="2C3E5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00" y="53086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14500" y="52705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渠道合作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部   </a:t>
            </a:r>
            <a:r>
              <a:rPr lang="zh-CN" alt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沈晶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负责商务合作与渠道对接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8" name="Connector 8"/>
          <p:cNvCxnSpPr/>
          <p:nvPr/>
        </p:nvCxnSpPr>
        <p:spPr>
          <a:xfrm rot="5331254">
            <a:off x="3937000" y="56452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8500" y="53086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953000" y="52705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18818291685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工作日 9:00 - 18:00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1" name="Connector 11"/>
          <p:cNvCxnSpPr/>
          <p:nvPr/>
        </p:nvCxnSpPr>
        <p:spPr>
          <a:xfrm rot="5331254">
            <a:off x="7112000" y="56452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83500" y="53086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128000" y="5270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sam@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taimeiai.com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发送合作意向至官方邮箱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5" name="图片 14" descr="575f15d0b3bc424eaa11c6c32d40aa51"/>
          <p:cNvPicPr>
            <a:picLocks noChangeAspect="1"/>
          </p:cNvPicPr>
          <p:nvPr/>
        </p:nvPicPr>
        <p:blipFill>
          <a:blip r:embed="rId8"/>
          <a:srcRect l="2058" t="23193" r="2598" b="16173"/>
          <a:stretch>
            <a:fillRect/>
          </a:stretch>
        </p:blipFill>
        <p:spPr>
          <a:xfrm>
            <a:off x="5063490" y="2750185"/>
            <a:ext cx="2353310" cy="22212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2462</Words>
  <Application>WPS 文字</Application>
  <PresentationFormat/>
  <Paragraphs>223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11</vt:i4>
      </vt:variant>
    </vt:vector>
  </HeadingPairs>
  <TitlesOfParts>
    <vt:vector size="33" baseType="lpstr">
      <vt:lpstr>Arial</vt:lpstr>
      <vt:lpstr>宋体</vt:lpstr>
      <vt:lpstr>Wingdings</vt:lpstr>
      <vt:lpstr>Arial</vt:lpstr>
      <vt:lpstr>Noto Sans SC</vt:lpstr>
      <vt:lpstr>Thonburi</vt:lpstr>
      <vt:lpstr>PingFang SC Regular</vt:lpstr>
      <vt:lpstr>PingFang SC</vt:lpstr>
      <vt:lpstr>Source Han Sans CN</vt:lpstr>
      <vt:lpstr>宋体</vt:lpstr>
      <vt:lpstr>宋体-简</vt:lpstr>
      <vt:lpstr>汉仪书宋二KW</vt:lpstr>
      <vt:lpstr>微软雅黑</vt:lpstr>
      <vt:lpstr>方正雅意黑 GB18030L2</vt:lpstr>
      <vt:lpstr>Arial Unicode MS</vt:lpstr>
      <vt:lpstr>Noto Sans SC</vt:lpstr>
      <vt:lpstr>Source Han Sans CN</vt:lpstr>
      <vt:lpstr>苹方-简</vt:lpstr>
      <vt:lpstr>Office 主题​​</vt:lpstr>
      <vt:lpstr>默认主题</vt:lpstr>
      <vt:lpstr>1_默认主题</vt:lpstr>
      <vt:lpstr>2_默认主题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人卓</cp:lastModifiedBy>
  <cp:revision>6</cp:revision>
  <dcterms:created xsi:type="dcterms:W3CDTF">2026-10-20T08:30:27Z</dcterms:created>
  <dcterms:modified xsi:type="dcterms:W3CDTF">2026-10-20T08:30:27Z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{"Label":"1","ContentProducer":"001191110102MACQD9K64010000","ProduceID":"7682640686932151243","ReservedCode1":"","ContentPropagator":"","PropagateID":"","ReservedCode2":""}</vt:lpwstr>
  </property>
  <property fmtid="{D5CDD505-2E9C-101B-9397-08002B2CF9AE}" pid="3" name="KSOProductBuildVer">
    <vt:lpwstr>2052-12.1.28496.28496</vt:lpwstr>
  </property>
  <property fmtid="{D5CDD505-2E9C-101B-9397-08002B2CF9AE}" pid="4" name="ICV">
    <vt:lpwstr>1EFABD4A4AA367B8FC709F6A3D30911B_43</vt:lpwstr>
  </property>
</Properties>
</file>